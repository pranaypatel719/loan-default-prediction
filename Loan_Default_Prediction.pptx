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Lato" panose="020F0502020204030203" pitchFamily="34" charset="0"/>
      <p:regular r:id="rId26"/>
      <p:bold r:id="rId27"/>
      <p:italic r:id="rId28"/>
      <p:boldItalic r:id="rId29"/>
    </p:embeddedFont>
    <p:embeddedFont>
      <p:font typeface="Lato Black" panose="020F0502020204030203" pitchFamily="34" charset="0"/>
      <p:bold r:id="rId30"/>
      <p:boldItalic r:id="rId31"/>
    </p:embeddedFont>
    <p:embeddedFont>
      <p:font typeface="Roboto" panose="02000000000000000000" pitchFamily="2" charset="0"/>
      <p:regular r:id="rId32"/>
      <p:bold r:id="rId33"/>
      <p:italic r:id="rId34"/>
      <p:boldItalic r:id="rId35"/>
    </p:embeddedFont>
    <p:embeddedFont>
      <p:font typeface="Roboto Medium" panose="020F0502020204030204" pitchFamily="2" charset="0"/>
      <p:regular r:id="rId36"/>
      <p:bold r:id="rId37"/>
      <p:italic r:id="rId38"/>
      <p:boldItalic r:id="rId39"/>
    </p:embeddedFont>
    <p:embeddedFont>
      <p:font typeface="Roboto Mono" panose="00000009000000000000" pitchFamily="49" charset="0"/>
      <p:regular r:id="rId40"/>
      <p:bold r:id="rId41"/>
      <p:italic r:id="rId42"/>
      <p:boldItalic r:id="rId43"/>
    </p:embeddedFont>
    <p:embeddedFont>
      <p:font typeface="Roboto Thin" panose="020F0502020204030204"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1" roundtripDataSignature="AMtx7mjebRC32Ao7nmiagRlCob48TB4I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DAEDEC-7DFD-46E7-8778-FF0E9CC43F70}">
  <a:tblStyle styleId="{4DDAEDEC-7DFD-46E7-8778-FF0E9CC43F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105" d="100"/>
          <a:sy n="105" d="100"/>
        </p:scale>
        <p:origin x="81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84"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82"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7" name="Google Shape;1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72b8e92123_0_16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72b8e92123_0_16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5" name="Google Shape;205;g372b8e92123_0_167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2b8e92123_0_17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2b8e92123_0_17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g372b8e92123_0_17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72b8e92123_0_17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72b8e92123_0_17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0" name="Google Shape;250;g372b8e92123_0_17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72b8e92123_0_23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72b8e92123_0_23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8" name="Google Shape;258;g372b8e92123_0_23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72b8e92123_0_23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72b8e92123_0_23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7" name="Google Shape;267;g372b8e92123_0_23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72806f1c5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7" name="Google Shape;277;g372806f1c5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g372806f1c5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72806f1c58_0_6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6" name="Google Shape;296;g372806f1c58_0_6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g372806f1c58_0_6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72806f1c58_0_8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72806f1c58_0_8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g372806f1c58_0_8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72806f1c58_0_8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72806f1c58_0_8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g372806f1c58_0_8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72806f1c58_0_1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72806f1c58_0_13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7" name="Google Shape;347;g372806f1c58_0_130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75b4e8b08a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75b4e8b08a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8" name="Google Shape;358;g375b4e8b08a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75b4e8b08a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75b4e8b08a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8" name="Google Shape;368;g375b4e8b08a_0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75c3cbf337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75c3cbf337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7" name="Google Shape;377;g375c3cbf337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73acac4530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73acac4530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So now we’re going to talk a little bit about our best model and its performance.</a:t>
            </a:r>
            <a:br>
              <a:rPr lang="en-US"/>
            </a:br>
            <a:br>
              <a:rPr lang="en-US"/>
            </a:br>
            <a:r>
              <a:rPr lang="en-US"/>
              <a:t>Our production model was evaluated using 5-fold cross-validation, but for illustration purposes we ran an additional train/test split of 80/20 on our training data and scored it to produce the metrics you see here. </a:t>
            </a:r>
            <a:endParaRPr/>
          </a:p>
          <a:p>
            <a:pPr marL="0" lvl="0" indent="0" algn="l" rtl="0">
              <a:spcBef>
                <a:spcPts val="360"/>
              </a:spcBef>
              <a:spcAft>
                <a:spcPts val="0"/>
              </a:spcAft>
              <a:buNone/>
            </a:pPr>
            <a:endParaRPr/>
          </a:p>
          <a:p>
            <a:pPr marL="0" lvl="0" indent="0" algn="l" rtl="0">
              <a:spcBef>
                <a:spcPts val="360"/>
              </a:spcBef>
              <a:spcAft>
                <a:spcPts val="0"/>
              </a:spcAft>
              <a:buNone/>
            </a:pPr>
            <a:r>
              <a:rPr lang="en-US"/>
              <a:t>The key takeaways are that:</a:t>
            </a:r>
            <a:endParaRPr/>
          </a:p>
          <a:p>
            <a:pPr marL="457200" lvl="0" indent="-317500" algn="l" rtl="0">
              <a:spcBef>
                <a:spcPts val="360"/>
              </a:spcBef>
              <a:spcAft>
                <a:spcPts val="0"/>
              </a:spcAft>
              <a:buSzPts val="1400"/>
              <a:buChar char="-"/>
            </a:pPr>
            <a:r>
              <a:rPr lang="en-US"/>
              <a:t>While our model performed relatively well, we still seem to favour the majority class of no-default. This is evidenced by our 9% recall of defaulted loans.</a:t>
            </a:r>
            <a:endParaRPr/>
          </a:p>
          <a:p>
            <a:pPr marL="457200" lvl="0" indent="-317500" algn="l" rtl="0">
              <a:spcBef>
                <a:spcPts val="0"/>
              </a:spcBef>
              <a:spcAft>
                <a:spcPts val="0"/>
              </a:spcAft>
              <a:buSzPts val="1400"/>
              <a:buChar char="-"/>
            </a:pPr>
            <a:r>
              <a:rPr lang="en-US"/>
              <a:t>It's good at spotting non-default (97% recall).</a:t>
            </a:r>
            <a:endParaRPr/>
          </a:p>
          <a:p>
            <a:pPr marL="457200" lvl="0" indent="-317500" algn="l" rtl="0">
              <a:spcBef>
                <a:spcPts val="0"/>
              </a:spcBef>
              <a:spcAft>
                <a:spcPts val="0"/>
              </a:spcAft>
              <a:buSzPts val="1400"/>
              <a:buChar char="-"/>
            </a:pPr>
            <a:r>
              <a:rPr lang="en-US"/>
              <a:t>The model is right overall 76% of the time</a:t>
            </a:r>
            <a:endParaRPr/>
          </a:p>
        </p:txBody>
      </p:sp>
      <p:sp>
        <p:nvSpPr>
          <p:cNvPr id="385" name="Google Shape;385;g373acac4530_0_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73acac4530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73acac4530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Here we have an illustration depicting all our features, with the bubble size indicating each feature’s relative importance. The bubbles in the chart sum to 100 when not rounded, so each feature can be considered the percentage of total importance assigned to that feature when making a prediction.</a:t>
            </a:r>
            <a:br>
              <a:rPr lang="en-US"/>
            </a:br>
            <a:endParaRPr/>
          </a:p>
          <a:p>
            <a:pPr marL="457200" lvl="0" indent="-317500" algn="l" rtl="0">
              <a:spcBef>
                <a:spcPts val="360"/>
              </a:spcBef>
              <a:spcAft>
                <a:spcPts val="0"/>
              </a:spcAft>
              <a:buSzPts val="1400"/>
              <a:buChar char="-"/>
            </a:pPr>
            <a:r>
              <a:rPr lang="en-US"/>
              <a:t>Intuitively, previous loan history helps predict defaults because it shows how someone handled loans in the past. If they’ve missed payments or defaulted before, there’s a higher chance they might do it again. On the flip side, a good repayment track record suggests they’re more likely to pay back future loans. It’s kind of like checking someone’s track record before trusting them again—it gives clues about what they might do next.</a:t>
            </a:r>
            <a:endParaRPr/>
          </a:p>
          <a:p>
            <a:pPr marL="457200" lvl="0" indent="-317500" algn="l" rtl="0">
              <a:spcBef>
                <a:spcPts val="0"/>
              </a:spcBef>
              <a:spcAft>
                <a:spcPts val="0"/>
              </a:spcAft>
              <a:buSzPts val="1400"/>
              <a:buChar char="-"/>
            </a:pPr>
            <a:r>
              <a:rPr lang="en-US"/>
              <a:t>Not so intuitively, employment status didn’t seem to account for a whole lot, despite having a value for most instances. Students had an almost identical rate of loan default as permanent employees. Loan reasons were not specified in this dataset, so this could potentially be because the loans were student loans providing the recipient with greater earning power.</a:t>
            </a:r>
            <a:endParaRPr/>
          </a:p>
          <a:p>
            <a:pPr marL="457200" lvl="0" indent="-317500" algn="l" rtl="0">
              <a:spcBef>
                <a:spcPts val="0"/>
              </a:spcBef>
              <a:spcAft>
                <a:spcPts val="0"/>
              </a:spcAft>
              <a:buSzPts val="1400"/>
              <a:buChar char="-"/>
            </a:pPr>
            <a:r>
              <a:rPr lang="en-US"/>
              <a:t>Level of education was another feature that didn’t have much prediction power, but this was likely because most instances were missing a value. Referrals also didn’t matter, neither did the time of year loans were created and approved.</a:t>
            </a:r>
            <a:endParaRPr/>
          </a:p>
        </p:txBody>
      </p:sp>
      <p:sp>
        <p:nvSpPr>
          <p:cNvPr id="406" name="Google Shape;406;g373acac4530_0_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75c3cbf337_1_6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75c3cbf337_1_6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CatBoost actually allows us to print out our trees, which I thought was cool,  so here it is.</a:t>
            </a:r>
            <a:endParaRPr/>
          </a:p>
          <a:p>
            <a:pPr marL="0" lvl="0" indent="0" algn="l" rtl="0">
              <a:spcBef>
                <a:spcPts val="360"/>
              </a:spcBef>
              <a:spcAft>
                <a:spcPts val="0"/>
              </a:spcAft>
              <a:buNone/>
            </a:pPr>
            <a:endParaRPr/>
          </a:p>
          <a:p>
            <a:pPr marL="0" lvl="0" indent="0" algn="l" rtl="0">
              <a:spcBef>
                <a:spcPts val="360"/>
              </a:spcBef>
              <a:spcAft>
                <a:spcPts val="0"/>
              </a:spcAft>
              <a:buNone/>
            </a:pPr>
            <a:r>
              <a:rPr lang="en-US"/>
              <a:t>The mouldy looking image at the bottom is one of our production trees, which as you can see is a bit unwieldy. Since it’s an ensemble model, many more of these so called “weak learner trees” were created, with the average prediction being used. </a:t>
            </a:r>
            <a:br>
              <a:rPr lang="en-US"/>
            </a:br>
            <a:br>
              <a:rPr lang="en-US"/>
            </a:br>
            <a:r>
              <a:rPr lang="en-US"/>
              <a:t> For illustration purpose, we stripped down the model to generate a simpler tree to illustrate how it was making decisions.</a:t>
            </a:r>
            <a:endParaRPr/>
          </a:p>
        </p:txBody>
      </p:sp>
      <p:sp>
        <p:nvSpPr>
          <p:cNvPr id="414" name="Google Shape;414;g375c3cbf337_1_6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73acac4530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73acac4530_0_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100">
                <a:latin typeface="Lato"/>
                <a:ea typeface="Lato"/>
                <a:cs typeface="Lato"/>
                <a:sym typeface="Lato"/>
              </a:rPr>
              <a:t>Here are a few examples of correctly and incorrectly predicted instances. Some numeric features have have been scaled so they follow a standard gaussian distribution, so values below zero indicate a value below than the feature mean and higher values indicate a value higher. Each integer in either direction is a single standard deviation from the feature mean, so a value of 1 indicates it’s one standard deviation higher than the feature mean. The categorical features, employment and bank name, were converted to numerical values using target encoding, which assigns each category the mean of the target variable for all instances with that category.</a:t>
            </a:r>
            <a:br>
              <a:rPr lang="en-US" sz="1100">
                <a:latin typeface="Lato"/>
                <a:ea typeface="Lato"/>
                <a:cs typeface="Lato"/>
                <a:sym typeface="Lato"/>
              </a:rPr>
            </a:br>
            <a:br>
              <a:rPr lang="en-US" sz="1100">
                <a:latin typeface="Lato"/>
                <a:ea typeface="Lato"/>
                <a:cs typeface="Lato"/>
                <a:sym typeface="Lato"/>
              </a:rPr>
            </a:br>
            <a:r>
              <a:rPr lang="en-US" sz="1100">
                <a:latin typeface="Lato"/>
                <a:ea typeface="Lato"/>
                <a:cs typeface="Lato"/>
                <a:sym typeface="Lato"/>
              </a:rPr>
              <a:t>As we see from the tree on the prior slide, the approval delay was one of our most important features. Unfortunately it’s come back to bit us with this sample of incorrect predictions, each having a delay smaller than the mean.</a:t>
            </a:r>
            <a:endParaRPr sz="1100">
              <a:latin typeface="Lato"/>
              <a:ea typeface="Lato"/>
              <a:cs typeface="Lato"/>
              <a:sym typeface="Lato"/>
            </a:endParaRPr>
          </a:p>
        </p:txBody>
      </p:sp>
      <p:sp>
        <p:nvSpPr>
          <p:cNvPr id="423" name="Google Shape;423;g373acac4530_0_7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75c3cbf337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75c3cbf337_2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317500" algn="l" rtl="0">
              <a:spcBef>
                <a:spcPts val="360"/>
              </a:spcBef>
              <a:spcAft>
                <a:spcPts val="0"/>
              </a:spcAft>
              <a:buSzPts val="1400"/>
              <a:buChar char="-"/>
            </a:pPr>
            <a:r>
              <a:rPr lang="en-US" sz="1100">
                <a:latin typeface="Arial"/>
                <a:ea typeface="Arial"/>
                <a:cs typeface="Arial"/>
                <a:sym typeface="Arial"/>
              </a:rPr>
              <a:t>Using </a:t>
            </a:r>
            <a:r>
              <a:rPr lang="en-US" sz="1100">
                <a:solidFill>
                  <a:srgbClr val="188038"/>
                </a:solidFill>
                <a:latin typeface="Roboto Mono"/>
                <a:ea typeface="Roboto Mono"/>
                <a:cs typeface="Roboto Mono"/>
                <a:sym typeface="Roboto Mono"/>
              </a:rPr>
              <a:t>sklearn.pipeline.Pipeline</a:t>
            </a:r>
            <a:r>
              <a:rPr lang="en-US" sz="1100">
                <a:latin typeface="Arial"/>
                <a:ea typeface="Arial"/>
                <a:cs typeface="Arial"/>
                <a:sym typeface="Arial"/>
              </a:rPr>
              <a:t> helps keep your machine learning workflow clean, consistent, and less error-prone. It chains preprocessing and modeling steps together so you can treat everything as a single object. That means you avoid data leakage, since transformations are fit only on the training data. It also makes cross-validation and grid search easier because the entire pipeline can be tuned at once. The consistent API simplifies your code and makes it more maintainable. And when it’s time to deploy, the same pipeline ensures your preprocessing and model logic stay exactly the same—no need to rebuild steps manually.</a:t>
            </a:r>
            <a:endParaRPr sz="1100">
              <a:latin typeface="Arial"/>
              <a:ea typeface="Arial"/>
              <a:cs typeface="Arial"/>
              <a:sym typeface="Arial"/>
            </a:endParaRPr>
          </a:p>
          <a:p>
            <a:pPr marL="457200" lvl="0" indent="-317500" algn="l" rtl="0">
              <a:spcBef>
                <a:spcPts val="0"/>
              </a:spcBef>
              <a:spcAft>
                <a:spcPts val="0"/>
              </a:spcAft>
              <a:buSzPts val="1400"/>
              <a:buChar char="-"/>
            </a:pPr>
            <a:r>
              <a:rPr lang="en-US" sz="1100">
                <a:latin typeface="Arial"/>
                <a:ea typeface="Arial"/>
                <a:cs typeface="Arial"/>
                <a:sym typeface="Arial"/>
              </a:rPr>
              <a:t>Tuning involves a lot of guesswork and iteration. Optimal parameter values aren’t always intuitive, so trying as many parameters as you can run in a reasonable amount of time. For example, in this project we found class balancing didn’t improve prediction accuracy at all, despite target categories being extremely imbalanced.</a:t>
            </a:r>
            <a:endParaRPr sz="1100">
              <a:latin typeface="Arial"/>
              <a:ea typeface="Arial"/>
              <a:cs typeface="Arial"/>
              <a:sym typeface="Arial"/>
            </a:endParaRPr>
          </a:p>
          <a:p>
            <a:pPr marL="457200" lvl="0" indent="-317500" algn="l" rtl="0">
              <a:spcBef>
                <a:spcPts val="0"/>
              </a:spcBef>
              <a:spcAft>
                <a:spcPts val="0"/>
              </a:spcAft>
              <a:buSzPts val="1400"/>
              <a:buChar char="-"/>
            </a:pPr>
            <a:r>
              <a:rPr lang="en-US" sz="1100">
                <a:latin typeface="Arial"/>
                <a:ea typeface="Arial"/>
                <a:cs typeface="Arial"/>
                <a:sym typeface="Arial"/>
              </a:rPr>
              <a:t>We found most classification models performed in roughly the same ballpark. What really moved the needle was a greater focus on data cleaning and preprocessing and feature engineering. At the beginning it was tempting to spam model hyperparameter combinations, but if I were doing it again I’d stick to a couple simple models for validation, refine and iterate on features, then introduce the full gambit of model hyper-parameter combinations to optimize it.</a:t>
            </a:r>
            <a:br>
              <a:rPr lang="en-US" sz="1100">
                <a:latin typeface="Arial"/>
                <a:ea typeface="Arial"/>
                <a:cs typeface="Arial"/>
                <a:sym typeface="Arial"/>
              </a:rPr>
            </a:br>
            <a:endParaRPr/>
          </a:p>
        </p:txBody>
      </p:sp>
      <p:sp>
        <p:nvSpPr>
          <p:cNvPr id="434" name="Google Shape;434;g375c3cbf337_2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73acac4530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73acac4530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1" name="Google Shape;441;g373acac4530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75c3cbf337_2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75c3cbf337_2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8" name="Google Shape;448;g375c3cbf337_2_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75b4e8b08a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75b4e8b08a_0_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7" name="Google Shape;457;g375b4e8b08a_0_5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73acac4530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63" name="Google Shape;463;g373acac4530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g373acac4530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7"/>
        <p:cNvGrpSpPr/>
        <p:nvPr/>
      </p:nvGrpSpPr>
      <p:grpSpPr>
        <a:xfrm>
          <a:off x="0" y="0"/>
          <a:ext cx="0" cy="0"/>
          <a:chOff x="0" y="0"/>
          <a:chExt cx="0" cy="0"/>
        </a:xfrm>
      </p:grpSpPr>
      <p:cxnSp>
        <p:nvCxnSpPr>
          <p:cNvPr id="18" name="Google Shape;18;p33" descr="&quot;&quot;"/>
          <p:cNvCxnSpPr/>
          <p:nvPr/>
        </p:nvCxnSpPr>
        <p:spPr>
          <a:xfrm>
            <a:off x="838200" y="4117975"/>
            <a:ext cx="452438" cy="0"/>
          </a:xfrm>
          <a:prstGeom prst="straightConnector1">
            <a:avLst/>
          </a:prstGeom>
          <a:noFill/>
          <a:ln w="57150" cap="flat" cmpd="sng">
            <a:solidFill>
              <a:schemeClr val="accent1"/>
            </a:solidFill>
            <a:prstDash val="solid"/>
            <a:miter lim="800000"/>
            <a:headEnd type="none" w="sm" len="sm"/>
            <a:tailEnd type="none" w="sm" len="sm"/>
          </a:ln>
        </p:spPr>
      </p:cxnSp>
      <p:sp>
        <p:nvSpPr>
          <p:cNvPr id="19" name="Google Shape;19;p33"/>
          <p:cNvSpPr txBox="1">
            <a:spLocks noGrp="1"/>
          </p:cNvSpPr>
          <p:nvPr>
            <p:ph type="title"/>
          </p:nvPr>
        </p:nvSpPr>
        <p:spPr>
          <a:xfrm>
            <a:off x="838200" y="609607"/>
            <a:ext cx="7871234" cy="3367041"/>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 name="Google Shape;20;p33"/>
          <p:cNvSpPr txBox="1">
            <a:spLocks noGrp="1"/>
          </p:cNvSpPr>
          <p:nvPr>
            <p:ph type="subTitle" idx="1"/>
          </p:nvPr>
        </p:nvSpPr>
        <p:spPr>
          <a:xfrm>
            <a:off x="838200" y="4314571"/>
            <a:ext cx="9144000" cy="165576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None/>
              <a:defRPr sz="2400"/>
            </a:lvl1pPr>
            <a:lvl2pPr lvl="1" algn="ctr">
              <a:spcBef>
                <a:spcPts val="500"/>
              </a:spcBef>
              <a:spcAft>
                <a:spcPts val="0"/>
              </a:spcAft>
              <a:buClr>
                <a:schemeClr val="dk1"/>
              </a:buClr>
              <a:buSzPts val="2000"/>
              <a:buNone/>
              <a:defRPr sz="2000"/>
            </a:lvl2pPr>
            <a:lvl3pPr lvl="2" algn="ctr">
              <a:spcBef>
                <a:spcPts val="500"/>
              </a:spcBef>
              <a:spcAft>
                <a:spcPts val="0"/>
              </a:spcAft>
              <a:buClr>
                <a:schemeClr val="dk1"/>
              </a:buClr>
              <a:buSzPts val="1800"/>
              <a:buNone/>
              <a:defRPr sz="1800"/>
            </a:lvl3pPr>
            <a:lvl4pPr lvl="3" algn="ctr">
              <a:spcBef>
                <a:spcPts val="500"/>
              </a:spcBef>
              <a:spcAft>
                <a:spcPts val="0"/>
              </a:spcAft>
              <a:buClr>
                <a:schemeClr val="dk1"/>
              </a:buClr>
              <a:buSzPts val="1600"/>
              <a:buNone/>
              <a:defRPr sz="1600"/>
            </a:lvl4pPr>
            <a:lvl5pPr lvl="4" algn="ctr">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33"/>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3"/>
        <p:cNvGrpSpPr/>
        <p:nvPr/>
      </p:nvGrpSpPr>
      <p:grpSpPr>
        <a:xfrm>
          <a:off x="0" y="0"/>
          <a:ext cx="0" cy="0"/>
          <a:chOff x="0" y="0"/>
          <a:chExt cx="0" cy="0"/>
        </a:xfrm>
      </p:grpSpPr>
      <p:cxnSp>
        <p:nvCxnSpPr>
          <p:cNvPr id="34" name="Google Shape;34;p36"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35" name="Google Shape;35;p36"/>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Black"/>
                <a:ea typeface="Lato Black"/>
                <a:cs typeface="Lato Black"/>
                <a:sym typeface="Lato Black"/>
              </a:rPr>
              <a:t>‹#›</a:t>
            </a:fld>
            <a:endParaRPr sz="1200" b="0" i="0" u="none" strike="noStrike" cap="none">
              <a:solidFill>
                <a:schemeClr val="dk1"/>
              </a:solidFill>
              <a:latin typeface="Lato Black"/>
              <a:ea typeface="Lato Black"/>
              <a:cs typeface="Lato Black"/>
              <a:sym typeface="Lato Black"/>
            </a:endParaRPr>
          </a:p>
        </p:txBody>
      </p:sp>
      <p:sp>
        <p:nvSpPr>
          <p:cNvPr id="36" name="Google Shape;36;p36"/>
          <p:cNvSpPr txBox="1">
            <a:spLocks noGrp="1"/>
          </p:cNvSpPr>
          <p:nvPr>
            <p:ph type="title"/>
          </p:nvPr>
        </p:nvSpPr>
        <p:spPr>
          <a:xfrm>
            <a:off x="838200" y="311995"/>
            <a:ext cx="9401269"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 name="Google Shape;37;p36"/>
          <p:cNvSpPr txBox="1">
            <a:spLocks noGrp="1"/>
          </p:cNvSpPr>
          <p:nvPr>
            <p:ph type="body" idx="1"/>
          </p:nvPr>
        </p:nvSpPr>
        <p:spPr>
          <a:xfrm>
            <a:off x="838200" y="1862659"/>
            <a:ext cx="8876071" cy="3889208"/>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6"/>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6"/>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8"/>
        <p:cNvGrpSpPr/>
        <p:nvPr/>
      </p:nvGrpSpPr>
      <p:grpSpPr>
        <a:xfrm>
          <a:off x="0" y="0"/>
          <a:ext cx="0" cy="0"/>
          <a:chOff x="0" y="0"/>
          <a:chExt cx="0" cy="0"/>
        </a:xfrm>
      </p:grpSpPr>
      <p:cxnSp>
        <p:nvCxnSpPr>
          <p:cNvPr id="49" name="Google Shape;49;p38"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50" name="Google Shape;50;p38"/>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Black"/>
                <a:ea typeface="Lato Black"/>
                <a:cs typeface="Lato Black"/>
                <a:sym typeface="Lato Black"/>
              </a:rPr>
              <a:t>‹#›</a:t>
            </a:fld>
            <a:endParaRPr sz="1200" b="0" i="0" u="none" strike="noStrike" cap="none">
              <a:solidFill>
                <a:schemeClr val="dk1"/>
              </a:solidFill>
              <a:latin typeface="Lato Black"/>
              <a:ea typeface="Lato Black"/>
              <a:cs typeface="Lato Black"/>
              <a:sym typeface="Lato Black"/>
            </a:endParaRPr>
          </a:p>
        </p:txBody>
      </p:sp>
      <p:sp>
        <p:nvSpPr>
          <p:cNvPr id="51" name="Google Shape;51;p38"/>
          <p:cNvSpPr txBox="1">
            <a:spLocks noGrp="1"/>
          </p:cNvSpPr>
          <p:nvPr>
            <p:ph type="title"/>
          </p:nvPr>
        </p:nvSpPr>
        <p:spPr>
          <a:xfrm>
            <a:off x="838200" y="311995"/>
            <a:ext cx="9401269"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38"/>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8"/>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40"/>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lt1"/>
                </a:solidFill>
                <a:latin typeface="Lato Black"/>
                <a:ea typeface="Lato Black"/>
                <a:cs typeface="Lato Black"/>
                <a:sym typeface="Lato Black"/>
              </a:rPr>
              <a:t>‹#›</a:t>
            </a:fld>
            <a:endParaRPr sz="1200" b="0" i="0" u="none" strike="noStrike" cap="none">
              <a:solidFill>
                <a:schemeClr val="lt1"/>
              </a:solidFill>
              <a:latin typeface="Lato Black"/>
              <a:ea typeface="Lato Black"/>
              <a:cs typeface="Lato Black"/>
              <a:sym typeface="Lato Black"/>
            </a:endParaRPr>
          </a:p>
        </p:txBody>
      </p:sp>
      <p:sp>
        <p:nvSpPr>
          <p:cNvPr id="61" name="Google Shape;61;p40"/>
          <p:cNvSpPr txBox="1">
            <a:spLocks noGrp="1"/>
          </p:cNvSpPr>
          <p:nvPr>
            <p:ph type="title"/>
          </p:nvPr>
        </p:nvSpPr>
        <p:spPr>
          <a:xfrm>
            <a:off x="1657964" y="2913406"/>
            <a:ext cx="8876071" cy="1031188"/>
          </a:xfrm>
          <a:prstGeom prst="rect">
            <a:avLst/>
          </a:prstGeom>
          <a:noFill/>
          <a:ln>
            <a:noFill/>
          </a:ln>
        </p:spPr>
        <p:txBody>
          <a:bodyPr spcFirstLastPara="1" wrap="square" lIns="0" tIns="0" rIns="0" bIns="0" anchor="ctr" anchorCtr="1">
            <a:noAutofit/>
          </a:bodyPr>
          <a:lstStyle>
            <a:lvl1pPr lvl="0" algn="ctr">
              <a:lnSpc>
                <a:spcPct val="90000"/>
              </a:lnSpc>
              <a:spcBef>
                <a:spcPts val="0"/>
              </a:spcBef>
              <a:spcAft>
                <a:spcPts val="0"/>
              </a:spcAft>
              <a:buSzPts val="1400"/>
              <a:buNone/>
              <a:defRPr sz="48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2" name="Google Shape;62;p40"/>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0"/>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Horz Logo Title">
  <p:cSld name="Horz Logo Title">
    <p:spTree>
      <p:nvGrpSpPr>
        <p:cNvPr id="1" name="Shape 64"/>
        <p:cNvGrpSpPr/>
        <p:nvPr/>
      </p:nvGrpSpPr>
      <p:grpSpPr>
        <a:xfrm>
          <a:off x="0" y="0"/>
          <a:ext cx="0" cy="0"/>
          <a:chOff x="0" y="0"/>
          <a:chExt cx="0" cy="0"/>
        </a:xfrm>
      </p:grpSpPr>
      <p:pic>
        <p:nvPicPr>
          <p:cNvPr id="65" name="Google Shape;65;p51" descr="Logo, Smith School of Business at Queen's University"/>
          <p:cNvPicPr preferRelativeResize="0"/>
          <p:nvPr/>
        </p:nvPicPr>
        <p:blipFill rotWithShape="1">
          <a:blip r:embed="rId2">
            <a:alphaModFix/>
          </a:blip>
          <a:srcRect/>
          <a:stretch/>
        </p:blipFill>
        <p:spPr>
          <a:xfrm>
            <a:off x="1931988" y="2633663"/>
            <a:ext cx="8328025" cy="1590675"/>
          </a:xfrm>
          <a:prstGeom prst="rect">
            <a:avLst/>
          </a:prstGeom>
          <a:noFill/>
          <a:ln>
            <a:noFill/>
          </a:ln>
        </p:spPr>
      </p:pic>
      <p:sp>
        <p:nvSpPr>
          <p:cNvPr id="66" name="Google Shape;66;p51"/>
          <p:cNvSpPr txBox="1">
            <a:spLocks noGrp="1"/>
          </p:cNvSpPr>
          <p:nvPr>
            <p:ph type="title"/>
          </p:nvPr>
        </p:nvSpPr>
        <p:spPr>
          <a:xfrm>
            <a:off x="0" y="-1125027"/>
            <a:ext cx="8876071" cy="1031188"/>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7"/>
        <p:cNvGrpSpPr/>
        <p:nvPr/>
      </p:nvGrpSpPr>
      <p:grpSpPr>
        <a:xfrm>
          <a:off x="0" y="0"/>
          <a:ext cx="0" cy="0"/>
          <a:chOff x="0" y="0"/>
          <a:chExt cx="0" cy="0"/>
        </a:xfrm>
      </p:grpSpPr>
      <p:cxnSp>
        <p:nvCxnSpPr>
          <p:cNvPr id="68" name="Google Shape;68;p52"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69" name="Google Shape;69;p52"/>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Black"/>
                <a:ea typeface="Lato Black"/>
                <a:cs typeface="Lato Black"/>
                <a:sym typeface="Lato Black"/>
              </a:rPr>
              <a:t>‹#›</a:t>
            </a:fld>
            <a:endParaRPr sz="1200" b="0" i="0" u="none" strike="noStrike" cap="none">
              <a:solidFill>
                <a:schemeClr val="dk1"/>
              </a:solidFill>
              <a:latin typeface="Lato Black"/>
              <a:ea typeface="Lato Black"/>
              <a:cs typeface="Lato Black"/>
              <a:sym typeface="Lato Black"/>
            </a:endParaRPr>
          </a:p>
        </p:txBody>
      </p:sp>
      <p:sp>
        <p:nvSpPr>
          <p:cNvPr id="70" name="Google Shape;70;p52"/>
          <p:cNvSpPr txBox="1">
            <a:spLocks noGrp="1"/>
          </p:cNvSpPr>
          <p:nvPr>
            <p:ph type="title"/>
          </p:nvPr>
        </p:nvSpPr>
        <p:spPr>
          <a:xfrm>
            <a:off x="838200" y="311995"/>
            <a:ext cx="9401269"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1" name="Google Shape;71;p52"/>
          <p:cNvSpPr txBox="1">
            <a:spLocks noGrp="1"/>
          </p:cNvSpPr>
          <p:nvPr>
            <p:ph type="body" idx="1"/>
          </p:nvPr>
        </p:nvSpPr>
        <p:spPr>
          <a:xfrm>
            <a:off x="838200" y="1862659"/>
            <a:ext cx="5181600" cy="4314304"/>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2"/>
          <p:cNvSpPr txBox="1">
            <a:spLocks noGrp="1"/>
          </p:cNvSpPr>
          <p:nvPr>
            <p:ph type="body" idx="2"/>
          </p:nvPr>
        </p:nvSpPr>
        <p:spPr>
          <a:xfrm>
            <a:off x="6172200" y="1862659"/>
            <a:ext cx="5181600" cy="4314304"/>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2"/>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2"/>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75"/>
        <p:cNvGrpSpPr/>
        <p:nvPr/>
      </p:nvGrpSpPr>
      <p:grpSpPr>
        <a:xfrm>
          <a:off x="0" y="0"/>
          <a:ext cx="0" cy="0"/>
          <a:chOff x="0" y="0"/>
          <a:chExt cx="0" cy="0"/>
        </a:xfrm>
      </p:grpSpPr>
      <p:cxnSp>
        <p:nvCxnSpPr>
          <p:cNvPr id="76" name="Google Shape;76;p53"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77" name="Google Shape;77;p53"/>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Black"/>
                <a:ea typeface="Lato Black"/>
                <a:cs typeface="Lato Black"/>
                <a:sym typeface="Lato Black"/>
              </a:rPr>
              <a:t>‹#›</a:t>
            </a:fld>
            <a:endParaRPr sz="1200" b="0" i="0" u="none" strike="noStrike" cap="none">
              <a:solidFill>
                <a:schemeClr val="dk1"/>
              </a:solidFill>
              <a:latin typeface="Lato Black"/>
              <a:ea typeface="Lato Black"/>
              <a:cs typeface="Lato Black"/>
              <a:sym typeface="Lato Black"/>
            </a:endParaRPr>
          </a:p>
        </p:txBody>
      </p:sp>
      <p:sp>
        <p:nvSpPr>
          <p:cNvPr id="78" name="Google Shape;78;p53"/>
          <p:cNvSpPr txBox="1">
            <a:spLocks noGrp="1"/>
          </p:cNvSpPr>
          <p:nvPr>
            <p:ph type="title"/>
          </p:nvPr>
        </p:nvSpPr>
        <p:spPr>
          <a:xfrm>
            <a:off x="838200" y="311995"/>
            <a:ext cx="9401269"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53"/>
          <p:cNvSpPr txBox="1">
            <a:spLocks noGrp="1"/>
          </p:cNvSpPr>
          <p:nvPr>
            <p:ph type="body" idx="1"/>
          </p:nvPr>
        </p:nvSpPr>
        <p:spPr>
          <a:xfrm>
            <a:off x="836612" y="1681163"/>
            <a:ext cx="5157787" cy="823912"/>
          </a:xfrm>
          <a:prstGeom prst="rect">
            <a:avLst/>
          </a:prstGeom>
          <a:noFill/>
          <a:ln>
            <a:noFill/>
          </a:ln>
        </p:spPr>
        <p:txBody>
          <a:bodyPr spcFirstLastPara="1" wrap="square" lIns="0" tIns="0" rIns="0" bIns="0" anchor="b" anchorCtr="0">
            <a:noAutofit/>
          </a:bodyPr>
          <a:lstStyle>
            <a:lvl1pPr marL="457200" lvl="0" indent="-228600" algn="l">
              <a:spcBef>
                <a:spcPts val="1000"/>
              </a:spcBef>
              <a:spcAft>
                <a:spcPts val="0"/>
              </a:spcAft>
              <a:buClr>
                <a:schemeClr val="dk1"/>
              </a:buClr>
              <a:buSzPts val="2400"/>
              <a:buNone/>
              <a:defRPr sz="2400" b="1"/>
            </a:lvl1pPr>
            <a:lvl2pPr marL="914400" lvl="1" indent="-228600" algn="l">
              <a:spcBef>
                <a:spcPts val="500"/>
              </a:spcBef>
              <a:spcAft>
                <a:spcPts val="0"/>
              </a:spcAft>
              <a:buClr>
                <a:schemeClr val="dk1"/>
              </a:buClr>
              <a:buSzPts val="2000"/>
              <a:buNone/>
              <a:defRPr sz="2000" b="1"/>
            </a:lvl2pPr>
            <a:lvl3pPr marL="1371600" lvl="2" indent="-228600" algn="l">
              <a:spcBef>
                <a:spcPts val="500"/>
              </a:spcBef>
              <a:spcAft>
                <a:spcPts val="0"/>
              </a:spcAft>
              <a:buClr>
                <a:schemeClr val="dk1"/>
              </a:buClr>
              <a:buSzPts val="1800"/>
              <a:buNone/>
              <a:defRPr sz="1800" b="1"/>
            </a:lvl3pPr>
            <a:lvl4pPr marL="1828800" lvl="3" indent="-228600" algn="l">
              <a:spcBef>
                <a:spcPts val="500"/>
              </a:spcBef>
              <a:spcAft>
                <a:spcPts val="0"/>
              </a:spcAft>
              <a:buClr>
                <a:schemeClr val="dk1"/>
              </a:buClr>
              <a:buSzPts val="1600"/>
              <a:buNone/>
              <a:defRPr sz="1600" b="1"/>
            </a:lvl4pPr>
            <a:lvl5pPr marL="2286000" lvl="4" indent="-228600" algn="l">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0" name="Google Shape;80;p53"/>
          <p:cNvSpPr txBox="1">
            <a:spLocks noGrp="1"/>
          </p:cNvSpPr>
          <p:nvPr>
            <p:ph type="body" idx="2"/>
          </p:nvPr>
        </p:nvSpPr>
        <p:spPr>
          <a:xfrm>
            <a:off x="839788" y="2505075"/>
            <a:ext cx="5157787" cy="3684588"/>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3"/>
          <p:cNvSpPr txBox="1">
            <a:spLocks noGrp="1"/>
          </p:cNvSpPr>
          <p:nvPr>
            <p:ph type="body" idx="3"/>
          </p:nvPr>
        </p:nvSpPr>
        <p:spPr>
          <a:xfrm>
            <a:off x="6172200" y="1681163"/>
            <a:ext cx="5183188" cy="823912"/>
          </a:xfrm>
          <a:prstGeom prst="rect">
            <a:avLst/>
          </a:prstGeom>
          <a:noFill/>
          <a:ln>
            <a:noFill/>
          </a:ln>
        </p:spPr>
        <p:txBody>
          <a:bodyPr spcFirstLastPara="1" wrap="square" lIns="0" tIns="0" rIns="0" bIns="0" anchor="b" anchorCtr="0">
            <a:noAutofit/>
          </a:bodyPr>
          <a:lstStyle>
            <a:lvl1pPr marL="457200" lvl="0" indent="-228600" algn="l">
              <a:spcBef>
                <a:spcPts val="1000"/>
              </a:spcBef>
              <a:spcAft>
                <a:spcPts val="0"/>
              </a:spcAft>
              <a:buClr>
                <a:schemeClr val="dk1"/>
              </a:buClr>
              <a:buSzPts val="2400"/>
              <a:buNone/>
              <a:defRPr sz="2400" b="1"/>
            </a:lvl1pPr>
            <a:lvl2pPr marL="914400" lvl="1" indent="-228600" algn="l">
              <a:spcBef>
                <a:spcPts val="500"/>
              </a:spcBef>
              <a:spcAft>
                <a:spcPts val="0"/>
              </a:spcAft>
              <a:buClr>
                <a:schemeClr val="dk1"/>
              </a:buClr>
              <a:buSzPts val="2000"/>
              <a:buNone/>
              <a:defRPr sz="2000" b="1"/>
            </a:lvl2pPr>
            <a:lvl3pPr marL="1371600" lvl="2" indent="-228600" algn="l">
              <a:spcBef>
                <a:spcPts val="500"/>
              </a:spcBef>
              <a:spcAft>
                <a:spcPts val="0"/>
              </a:spcAft>
              <a:buClr>
                <a:schemeClr val="dk1"/>
              </a:buClr>
              <a:buSzPts val="1800"/>
              <a:buNone/>
              <a:defRPr sz="1800" b="1"/>
            </a:lvl3pPr>
            <a:lvl4pPr marL="1828800" lvl="3" indent="-228600" algn="l">
              <a:spcBef>
                <a:spcPts val="500"/>
              </a:spcBef>
              <a:spcAft>
                <a:spcPts val="0"/>
              </a:spcAft>
              <a:buClr>
                <a:schemeClr val="dk1"/>
              </a:buClr>
              <a:buSzPts val="1600"/>
              <a:buNone/>
              <a:defRPr sz="1600" b="1"/>
            </a:lvl4pPr>
            <a:lvl5pPr marL="2286000" lvl="4" indent="-228600" algn="l">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2" name="Google Shape;82;p53"/>
          <p:cNvSpPr txBox="1">
            <a:spLocks noGrp="1"/>
          </p:cNvSpPr>
          <p:nvPr>
            <p:ph type="body" idx="4"/>
          </p:nvPr>
        </p:nvSpPr>
        <p:spPr>
          <a:xfrm>
            <a:off x="6172200" y="2505075"/>
            <a:ext cx="5183188" cy="3684588"/>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3"/>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3"/>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85"/>
        <p:cNvGrpSpPr/>
        <p:nvPr/>
      </p:nvGrpSpPr>
      <p:grpSpPr>
        <a:xfrm>
          <a:off x="0" y="0"/>
          <a:ext cx="0" cy="0"/>
          <a:chOff x="0" y="0"/>
          <a:chExt cx="0" cy="0"/>
        </a:xfrm>
      </p:grpSpPr>
      <p:cxnSp>
        <p:nvCxnSpPr>
          <p:cNvPr id="86" name="Google Shape;86;p54"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87" name="Google Shape;87;p54"/>
          <p:cNvSpPr txBox="1"/>
          <p:nvPr/>
        </p:nvSpPr>
        <p:spPr>
          <a:xfrm>
            <a:off x="11353800" y="333375"/>
            <a:ext cx="373063" cy="18415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Black"/>
                <a:ea typeface="Lato Black"/>
                <a:cs typeface="Lato Black"/>
                <a:sym typeface="Lato Black"/>
              </a:rPr>
              <a:t>‹#›</a:t>
            </a:fld>
            <a:endParaRPr sz="1200" b="0" i="0" u="none" strike="noStrike" cap="none">
              <a:solidFill>
                <a:schemeClr val="dk1"/>
              </a:solidFill>
              <a:latin typeface="Lato Black"/>
              <a:ea typeface="Lato Black"/>
              <a:cs typeface="Lato Black"/>
              <a:sym typeface="Lato Black"/>
            </a:endParaRPr>
          </a:p>
        </p:txBody>
      </p:sp>
      <p:sp>
        <p:nvSpPr>
          <p:cNvPr id="88" name="Google Shape;88;p54"/>
          <p:cNvSpPr txBox="1">
            <a:spLocks noGrp="1"/>
          </p:cNvSpPr>
          <p:nvPr>
            <p:ph type="title"/>
          </p:nvPr>
        </p:nvSpPr>
        <p:spPr>
          <a:xfrm>
            <a:off x="838200" y="311995"/>
            <a:ext cx="8876071"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9" name="Google Shape;89;p54"/>
          <p:cNvSpPr txBox="1">
            <a:spLocks noGrp="1"/>
          </p:cNvSpPr>
          <p:nvPr>
            <p:ph type="body" idx="1"/>
          </p:nvPr>
        </p:nvSpPr>
        <p:spPr>
          <a:xfrm>
            <a:off x="839788" y="1862659"/>
            <a:ext cx="3932237" cy="4006329"/>
          </a:xfrm>
          <a:prstGeom prst="rect">
            <a:avLst/>
          </a:prstGeom>
          <a:noFill/>
          <a:ln>
            <a:noFill/>
          </a:ln>
        </p:spPr>
        <p:txBody>
          <a:bodyPr spcFirstLastPara="1" wrap="square" lIns="0" tIns="0" rIns="0" bIns="0" anchor="t" anchorCtr="0">
            <a:noAutofit/>
          </a:bodyPr>
          <a:lstStyle>
            <a:lvl1pPr marL="457200" lvl="0" indent="-228600" algn="l">
              <a:spcBef>
                <a:spcPts val="1000"/>
              </a:spcBef>
              <a:spcAft>
                <a:spcPts val="0"/>
              </a:spcAft>
              <a:buClr>
                <a:schemeClr val="dk1"/>
              </a:buClr>
              <a:buSzPts val="1600"/>
              <a:buNone/>
              <a:defRPr sz="1600"/>
            </a:lvl1pPr>
            <a:lvl2pPr marL="914400" lvl="1" indent="-228600" algn="l">
              <a:spcBef>
                <a:spcPts val="500"/>
              </a:spcBef>
              <a:spcAft>
                <a:spcPts val="0"/>
              </a:spcAft>
              <a:buClr>
                <a:schemeClr val="dk1"/>
              </a:buClr>
              <a:buSzPts val="1400"/>
              <a:buNone/>
              <a:defRPr sz="1400"/>
            </a:lvl2pPr>
            <a:lvl3pPr marL="1371600" lvl="2" indent="-228600" algn="l">
              <a:spcBef>
                <a:spcPts val="500"/>
              </a:spcBef>
              <a:spcAft>
                <a:spcPts val="0"/>
              </a:spcAft>
              <a:buClr>
                <a:schemeClr val="dk1"/>
              </a:buClr>
              <a:buSzPts val="1200"/>
              <a:buNone/>
              <a:defRPr sz="1200"/>
            </a:lvl3pPr>
            <a:lvl4pPr marL="1828800" lvl="3" indent="-228600" algn="l">
              <a:spcBef>
                <a:spcPts val="500"/>
              </a:spcBef>
              <a:spcAft>
                <a:spcPts val="0"/>
              </a:spcAft>
              <a:buClr>
                <a:schemeClr val="dk1"/>
              </a:buClr>
              <a:buSzPts val="1000"/>
              <a:buNone/>
              <a:defRPr sz="1000"/>
            </a:lvl4pPr>
            <a:lvl5pPr marL="2286000" lvl="4" indent="-228600" algn="l">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54"/>
          <p:cNvSpPr txBox="1">
            <a:spLocks noGrp="1"/>
          </p:cNvSpPr>
          <p:nvPr>
            <p:ph type="body" idx="2"/>
          </p:nvPr>
        </p:nvSpPr>
        <p:spPr>
          <a:xfrm>
            <a:off x="5183188" y="1862659"/>
            <a:ext cx="6172200" cy="3998391"/>
          </a:xfrm>
          <a:prstGeom prst="rect">
            <a:avLst/>
          </a:prstGeom>
          <a:noFill/>
          <a:ln>
            <a:noFill/>
          </a:ln>
        </p:spPr>
        <p:txBody>
          <a:bodyPr spcFirstLastPara="1" wrap="square" lIns="0" tIns="0" rIns="0" bIns="0" anchor="t" anchorCtr="0">
            <a:noAutofit/>
          </a:bodyPr>
          <a:lstStyle>
            <a:lvl1pPr marL="457200" lvl="0" indent="-431800" algn="l">
              <a:spcBef>
                <a:spcPts val="1000"/>
              </a:spcBef>
              <a:spcAft>
                <a:spcPts val="0"/>
              </a:spcAft>
              <a:buClr>
                <a:schemeClr val="dk1"/>
              </a:buClr>
              <a:buSzPts val="3200"/>
              <a:buChar char="•"/>
              <a:defRPr sz="3200"/>
            </a:lvl1pPr>
            <a:lvl2pPr marL="914400" lvl="1" indent="-406400" algn="l">
              <a:spcBef>
                <a:spcPts val="500"/>
              </a:spcBef>
              <a:spcAft>
                <a:spcPts val="0"/>
              </a:spcAft>
              <a:buClr>
                <a:schemeClr val="dk1"/>
              </a:buClr>
              <a:buSzPts val="2800"/>
              <a:buChar char="•"/>
              <a:defRPr sz="2800"/>
            </a:lvl2pPr>
            <a:lvl3pPr marL="1371600" lvl="2" indent="-381000" algn="l">
              <a:spcBef>
                <a:spcPts val="500"/>
              </a:spcBef>
              <a:spcAft>
                <a:spcPts val="0"/>
              </a:spcAft>
              <a:buClr>
                <a:schemeClr val="dk1"/>
              </a:buClr>
              <a:buSzPts val="2400"/>
              <a:buChar char="•"/>
              <a:defRPr sz="2400"/>
            </a:lvl3pPr>
            <a:lvl4pPr marL="1828800" lvl="3" indent="-355600" algn="l">
              <a:spcBef>
                <a:spcPts val="500"/>
              </a:spcBef>
              <a:spcAft>
                <a:spcPts val="0"/>
              </a:spcAft>
              <a:buClr>
                <a:schemeClr val="dk1"/>
              </a:buClr>
              <a:buSzPts val="2000"/>
              <a:buChar char="•"/>
              <a:defRPr sz="2000"/>
            </a:lvl4pPr>
            <a:lvl5pPr marL="2286000" lvl="4" indent="-355600" algn="l">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1" name="Google Shape;91;p54"/>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4"/>
          <p:cNvSpPr txBox="1">
            <a:spLocks noGrp="1"/>
          </p:cNvSpPr>
          <p:nvPr>
            <p:ph type="ftr" idx="11"/>
          </p:nvPr>
        </p:nvSpPr>
        <p:spPr>
          <a:xfrm>
            <a:off x="10239375" y="242888"/>
            <a:ext cx="1160463" cy="365125"/>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93"/>
        <p:cNvGrpSpPr/>
        <p:nvPr/>
      </p:nvGrpSpPr>
      <p:grpSpPr>
        <a:xfrm>
          <a:off x="0" y="0"/>
          <a:ext cx="0" cy="0"/>
          <a:chOff x="0" y="0"/>
          <a:chExt cx="0" cy="0"/>
        </a:xfrm>
      </p:grpSpPr>
      <p:cxnSp>
        <p:nvCxnSpPr>
          <p:cNvPr id="94" name="Google Shape;94;p55" descr="&quot;&quot;"/>
          <p:cNvCxnSpPr/>
          <p:nvPr/>
        </p:nvCxnSpPr>
        <p:spPr>
          <a:xfrm>
            <a:off x="0" y="1397000"/>
            <a:ext cx="11726863" cy="0"/>
          </a:xfrm>
          <a:prstGeom prst="straightConnector1">
            <a:avLst/>
          </a:prstGeom>
          <a:noFill/>
          <a:ln w="28575" cap="flat" cmpd="sng">
            <a:solidFill>
              <a:schemeClr val="accent1"/>
            </a:solidFill>
            <a:prstDash val="solid"/>
            <a:miter lim="800000"/>
            <a:headEnd type="none" w="sm" len="sm"/>
            <a:tailEnd type="none" w="sm" len="sm"/>
          </a:ln>
        </p:spPr>
      </p:cxnSp>
      <p:sp>
        <p:nvSpPr>
          <p:cNvPr id="95" name="Google Shape;95;p55"/>
          <p:cNvSpPr txBox="1">
            <a:spLocks noGrp="1"/>
          </p:cNvSpPr>
          <p:nvPr>
            <p:ph type="title"/>
          </p:nvPr>
        </p:nvSpPr>
        <p:spPr>
          <a:xfrm>
            <a:off x="838200" y="311995"/>
            <a:ext cx="8876071" cy="9374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6" name="Google Shape;96;p55"/>
          <p:cNvSpPr txBox="1">
            <a:spLocks noGrp="1"/>
          </p:cNvSpPr>
          <p:nvPr>
            <p:ph type="body" idx="1"/>
          </p:nvPr>
        </p:nvSpPr>
        <p:spPr>
          <a:xfrm rot="5400000">
            <a:off x="3920331" y="-1256506"/>
            <a:ext cx="4351338" cy="10515600"/>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55"/>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56"/>
          <p:cNvSpPr txBox="1">
            <a:spLocks noGrp="1"/>
          </p:cNvSpPr>
          <p:nvPr>
            <p:ph type="title"/>
          </p:nvPr>
        </p:nvSpPr>
        <p:spPr>
          <a:xfrm rot="5400000">
            <a:off x="7133431" y="1956594"/>
            <a:ext cx="5811838" cy="26289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0" name="Google Shape;100;p56"/>
          <p:cNvSpPr txBox="1">
            <a:spLocks noGrp="1"/>
          </p:cNvSpPr>
          <p:nvPr>
            <p:ph type="body" idx="1"/>
          </p:nvPr>
        </p:nvSpPr>
        <p:spPr>
          <a:xfrm rot="5400000">
            <a:off x="1799431" y="-596106"/>
            <a:ext cx="5811838" cy="7734300"/>
          </a:xfrm>
          <a:prstGeom prst="rect">
            <a:avLst/>
          </a:prstGeom>
          <a:noFill/>
          <a:ln>
            <a:noFill/>
          </a:ln>
        </p:spPr>
        <p:txBody>
          <a:bodyPr spcFirstLastPara="1" wrap="square" lIns="0" tIns="0" rIns="0" bIns="0" anchor="t" anchorCtr="0">
            <a:noAutofit/>
          </a:bodyPr>
          <a:lstStyle>
            <a:lvl1pPr marL="457200" lvl="0" indent="-342900" algn="l">
              <a:spcBef>
                <a:spcPts val="1000"/>
              </a:spcBef>
              <a:spcAft>
                <a:spcPts val="0"/>
              </a:spcAft>
              <a:buClr>
                <a:schemeClr val="dk1"/>
              </a:buClr>
              <a:buSzPts val="1800"/>
              <a:buChar char="•"/>
              <a:defRPr/>
            </a:lvl1pPr>
            <a:lvl2pPr marL="914400" lvl="1" indent="-342900" algn="l">
              <a:spcBef>
                <a:spcPts val="5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500"/>
              </a:spcBef>
              <a:spcAft>
                <a:spcPts val="0"/>
              </a:spcAft>
              <a:buClr>
                <a:schemeClr val="dk1"/>
              </a:buClr>
              <a:buSzPts val="1800"/>
              <a:buChar char="•"/>
              <a:defRPr/>
            </a:lvl4pPr>
            <a:lvl5pPr marL="2286000" lvl="4" indent="-342900" algn="l">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56"/>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838200" y="273050"/>
            <a:ext cx="10515600" cy="1030288"/>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1pPr>
            <a:lvl2pPr marR="0" lvl="1"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2pPr>
            <a:lvl3pPr marR="0" lvl="2"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3pPr>
            <a:lvl4pPr marR="0" lvl="3"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4pPr>
            <a:lvl5pPr marR="0" lvl="4"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5pPr>
            <a:lvl6pPr marR="0" lvl="5"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6pPr>
            <a:lvl7pPr marR="0" lvl="6"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7pPr>
            <a:lvl8pPr marR="0" lvl="7"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8pPr>
            <a:lvl9pPr marR="0" lvl="8" algn="l" rtl="0">
              <a:lnSpc>
                <a:spcPct val="90000"/>
              </a:lnSpc>
              <a:spcBef>
                <a:spcPts val="0"/>
              </a:spcBef>
              <a:spcAft>
                <a:spcPts val="0"/>
              </a:spcAft>
              <a:buSzPts val="1400"/>
              <a:buNone/>
              <a:defRPr sz="3200" b="0" i="0" u="none" strike="noStrike" cap="none">
                <a:solidFill>
                  <a:schemeClr val="dk1"/>
                </a:solidFill>
                <a:latin typeface="Lato Black"/>
                <a:ea typeface="Lato Black"/>
                <a:cs typeface="Lato Black"/>
                <a:sym typeface="Lato Black"/>
              </a:defRPr>
            </a:lvl9pPr>
          </a:lstStyle>
          <a:p>
            <a:endParaRPr/>
          </a:p>
        </p:txBody>
      </p:sp>
      <p:sp>
        <p:nvSpPr>
          <p:cNvPr id="11" name="Google Shape;11;p31"/>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Autofit/>
          </a:bodyPr>
          <a:lstStyle>
            <a:lvl1pPr marL="457200" marR="0" lvl="0" indent="-406400" algn="l" rtl="0">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12" name="Google Shape;12;p31"/>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200" b="0"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pic>
        <p:nvPicPr>
          <p:cNvPr id="13" name="Google Shape;13;p31"/>
          <p:cNvPicPr preferRelativeResize="0"/>
          <p:nvPr/>
        </p:nvPicPr>
        <p:blipFill rotWithShape="1">
          <a:blip r:embed="rId13">
            <a:alphaModFix/>
          </a:blip>
          <a:srcRect/>
          <a:stretch/>
        </p:blipFill>
        <p:spPr>
          <a:xfrm>
            <a:off x="9967913" y="6338888"/>
            <a:ext cx="1979612" cy="381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3" r:id="rId2"/>
    <p:sldLayoutId id="2147483655" r:id="rId3"/>
    <p:sldLayoutId id="2147483657" r:id="rId4"/>
    <p:sldLayoutId id="2147483658" r:id="rId5"/>
    <p:sldLayoutId id="2147483659" r:id="rId6"/>
    <p:sldLayoutId id="2147483660" r:id="rId7"/>
    <p:sldLayoutId id="2147483661" r:id="rId8"/>
    <p:sldLayoutId id="2147483662" r:id="rId9"/>
    <p:sldLayoutId id="214748366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
          <p:cNvSpPr txBox="1">
            <a:spLocks noGrp="1"/>
          </p:cNvSpPr>
          <p:nvPr>
            <p:ph type="title"/>
          </p:nvPr>
        </p:nvSpPr>
        <p:spPr>
          <a:xfrm>
            <a:off x="838200" y="609600"/>
            <a:ext cx="8233200" cy="3367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None/>
            </a:pPr>
            <a:r>
              <a:rPr lang="en-US"/>
              <a:t>Loan Default Prediction</a:t>
            </a:r>
            <a:endParaRPr/>
          </a:p>
        </p:txBody>
      </p:sp>
      <p:sp>
        <p:nvSpPr>
          <p:cNvPr id="201" name="Google Shape;201;p2"/>
          <p:cNvSpPr txBox="1">
            <a:spLocks noGrp="1"/>
          </p:cNvSpPr>
          <p:nvPr>
            <p:ph type="subTitle" idx="1"/>
          </p:nvPr>
        </p:nvSpPr>
        <p:spPr>
          <a:xfrm>
            <a:off x="838200" y="4314825"/>
            <a:ext cx="9144000" cy="165576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400"/>
              <a:buNone/>
            </a:pPr>
            <a:r>
              <a:rPr lang="en-US"/>
              <a:t>MMA2026WT</a:t>
            </a:r>
            <a:endParaRPr/>
          </a:p>
          <a:p>
            <a:pPr marL="0" lvl="0" indent="0" algn="l" rtl="0">
              <a:lnSpc>
                <a:spcPct val="100000"/>
              </a:lnSpc>
              <a:spcBef>
                <a:spcPts val="0"/>
              </a:spcBef>
              <a:spcAft>
                <a:spcPts val="0"/>
              </a:spcAft>
              <a:buClr>
                <a:schemeClr val="dk1"/>
              </a:buClr>
              <a:buSzPts val="2400"/>
              <a:buNone/>
            </a:pPr>
            <a:r>
              <a:rPr lang="en-US"/>
              <a:t>Team Danforth</a:t>
            </a:r>
            <a:endParaRPr/>
          </a:p>
          <a:p>
            <a:pPr marL="0" lvl="0" indent="0" algn="l" rtl="0">
              <a:lnSpc>
                <a:spcPct val="10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72b8e92123_0_1673"/>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Project Introduction-Loan Default Prediction</a:t>
            </a:r>
            <a:endParaRPr/>
          </a:p>
        </p:txBody>
      </p:sp>
      <p:grpSp>
        <p:nvGrpSpPr>
          <p:cNvPr id="208" name="Google Shape;208;g372b8e92123_0_1673"/>
          <p:cNvGrpSpPr/>
          <p:nvPr/>
        </p:nvGrpSpPr>
        <p:grpSpPr>
          <a:xfrm>
            <a:off x="7509568" y="1586327"/>
            <a:ext cx="4407490" cy="4643951"/>
            <a:chOff x="5632317" y="1189775"/>
            <a:chExt cx="3305700" cy="3483050"/>
          </a:xfrm>
        </p:grpSpPr>
        <p:sp>
          <p:nvSpPr>
            <p:cNvPr id="209" name="Google Shape;209;g372b8e92123_0_1673"/>
            <p:cNvSpPr/>
            <p:nvPr/>
          </p:nvSpPr>
          <p:spPr>
            <a:xfrm>
              <a:off x="5632317" y="1189775"/>
              <a:ext cx="3305700" cy="669000"/>
            </a:xfrm>
            <a:prstGeom prst="chevron">
              <a:avLst>
                <a:gd name="adj" fmla="val 50000"/>
              </a:avLst>
            </a:prstGeom>
            <a:solidFill>
              <a:srgbClr val="307AF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Dataset Summary</a:t>
              </a:r>
              <a:endParaRPr sz="1900">
                <a:solidFill>
                  <a:srgbClr val="FFFFFF"/>
                </a:solidFill>
                <a:latin typeface="Roboto"/>
                <a:ea typeface="Roboto"/>
                <a:cs typeface="Roboto"/>
                <a:sym typeface="Roboto"/>
              </a:endParaRPr>
            </a:p>
          </p:txBody>
        </p:sp>
        <p:sp>
          <p:nvSpPr>
            <p:cNvPr id="210" name="Google Shape;210;g372b8e92123_0_1673"/>
            <p:cNvSpPr txBox="1"/>
            <p:nvPr/>
          </p:nvSpPr>
          <p:spPr>
            <a:xfrm>
              <a:off x="6167063" y="2057125"/>
              <a:ext cx="22362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600">
                  <a:latin typeface="Roboto"/>
                  <a:ea typeface="Roboto"/>
                  <a:cs typeface="Roboto"/>
                  <a:sym typeface="Roboto"/>
                </a:rPr>
                <a:t>3 different datasets for both train and test.</a:t>
              </a:r>
              <a:endParaRPr sz="1600">
                <a:latin typeface="Roboto"/>
                <a:ea typeface="Roboto"/>
                <a:cs typeface="Roboto"/>
                <a:sym typeface="Roboto"/>
              </a:endParaRPr>
            </a:p>
            <a:p>
              <a:pPr marL="457200" lvl="0" indent="-330200" algn="l" rtl="0">
                <a:lnSpc>
                  <a:spcPct val="115000"/>
                </a:lnSpc>
                <a:spcBef>
                  <a:spcPts val="0"/>
                </a:spcBef>
                <a:spcAft>
                  <a:spcPts val="0"/>
                </a:spcAft>
                <a:buSzPts val="1600"/>
                <a:buFont typeface="Roboto"/>
                <a:buChar char="●"/>
              </a:pPr>
              <a:r>
                <a:rPr lang="en-US" sz="1600">
                  <a:latin typeface="Roboto"/>
                  <a:ea typeface="Roboto"/>
                  <a:cs typeface="Roboto"/>
                  <a:sym typeface="Roboto"/>
                </a:rPr>
                <a:t>Demographic data</a:t>
              </a:r>
              <a:endParaRPr sz="1600">
                <a:latin typeface="Roboto"/>
                <a:ea typeface="Roboto"/>
                <a:cs typeface="Roboto"/>
                <a:sym typeface="Roboto"/>
              </a:endParaRPr>
            </a:p>
            <a:p>
              <a:pPr marL="457200" lvl="0" indent="-330200" algn="l" rtl="0">
                <a:lnSpc>
                  <a:spcPct val="115000"/>
                </a:lnSpc>
                <a:spcBef>
                  <a:spcPts val="0"/>
                </a:spcBef>
                <a:spcAft>
                  <a:spcPts val="0"/>
                </a:spcAft>
                <a:buSzPts val="1600"/>
                <a:buFont typeface="Roboto"/>
                <a:buChar char="●"/>
              </a:pPr>
              <a:r>
                <a:rPr lang="en-US" sz="1600">
                  <a:latin typeface="Roboto"/>
                  <a:ea typeface="Roboto"/>
                  <a:cs typeface="Roboto"/>
                  <a:sym typeface="Roboto"/>
                </a:rPr>
                <a:t>Performance data</a:t>
              </a:r>
              <a:endParaRPr sz="1600">
                <a:latin typeface="Roboto"/>
                <a:ea typeface="Roboto"/>
                <a:cs typeface="Roboto"/>
                <a:sym typeface="Roboto"/>
              </a:endParaRPr>
            </a:p>
            <a:p>
              <a:pPr marL="457200" lvl="0" indent="-330200" algn="l" rtl="0">
                <a:lnSpc>
                  <a:spcPct val="115000"/>
                </a:lnSpc>
                <a:spcBef>
                  <a:spcPts val="0"/>
                </a:spcBef>
                <a:spcAft>
                  <a:spcPts val="0"/>
                </a:spcAft>
                <a:buSzPts val="1600"/>
                <a:buFont typeface="Roboto"/>
                <a:buChar char="●"/>
              </a:pPr>
              <a:r>
                <a:rPr lang="en-US" sz="1600">
                  <a:latin typeface="Roboto"/>
                  <a:ea typeface="Roboto"/>
                  <a:cs typeface="Roboto"/>
                  <a:sym typeface="Roboto"/>
                </a:rPr>
                <a:t>Previous loans data</a:t>
              </a:r>
              <a:endParaRPr sz="1600">
                <a:latin typeface="Roboto"/>
                <a:ea typeface="Roboto"/>
                <a:cs typeface="Roboto"/>
                <a:sym typeface="Roboto"/>
              </a:endParaRPr>
            </a:p>
          </p:txBody>
        </p:sp>
      </p:grpSp>
      <p:grpSp>
        <p:nvGrpSpPr>
          <p:cNvPr id="211" name="Google Shape;211;g372b8e92123_0_1673"/>
          <p:cNvGrpSpPr/>
          <p:nvPr/>
        </p:nvGrpSpPr>
        <p:grpSpPr>
          <a:xfrm>
            <a:off x="0" y="1586613"/>
            <a:ext cx="4729082" cy="4643665"/>
            <a:chOff x="0" y="1189989"/>
            <a:chExt cx="3546900" cy="3482836"/>
          </a:xfrm>
        </p:grpSpPr>
        <p:sp>
          <p:nvSpPr>
            <p:cNvPr id="212" name="Google Shape;212;g372b8e92123_0_1673"/>
            <p:cNvSpPr/>
            <p:nvPr/>
          </p:nvSpPr>
          <p:spPr>
            <a:xfrm>
              <a:off x="0" y="1189989"/>
              <a:ext cx="3546900" cy="669000"/>
            </a:xfrm>
            <a:prstGeom prst="homePlate">
              <a:avLst>
                <a:gd name="adj" fmla="val 50000"/>
              </a:avLst>
            </a:prstGeom>
            <a:solidFill>
              <a:srgbClr val="0942A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Background</a:t>
              </a:r>
              <a:endParaRPr sz="1900">
                <a:solidFill>
                  <a:srgbClr val="FFFFFF"/>
                </a:solidFill>
                <a:latin typeface="Roboto"/>
                <a:ea typeface="Roboto"/>
                <a:cs typeface="Roboto"/>
                <a:sym typeface="Roboto"/>
              </a:endParaRPr>
            </a:p>
          </p:txBody>
        </p:sp>
        <p:sp>
          <p:nvSpPr>
            <p:cNvPr id="213" name="Google Shape;213;g372b8e92123_0_1673"/>
            <p:cNvSpPr txBox="1"/>
            <p:nvPr/>
          </p:nvSpPr>
          <p:spPr>
            <a:xfrm>
              <a:off x="655361" y="2057125"/>
              <a:ext cx="22362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600">
                  <a:latin typeface="Roboto"/>
                  <a:ea typeface="Roboto"/>
                  <a:cs typeface="Roboto"/>
                  <a:sym typeface="Roboto"/>
                </a:rPr>
                <a:t>SuperLender uses credit risk models to assess applicants’ willingness and ability to repay, aiming to predict loan defaults and support responsible lending decisions.</a:t>
              </a:r>
              <a:endParaRPr sz="1600">
                <a:latin typeface="Roboto"/>
                <a:ea typeface="Roboto"/>
                <a:cs typeface="Roboto"/>
                <a:sym typeface="Roboto"/>
              </a:endParaRPr>
            </a:p>
          </p:txBody>
        </p:sp>
      </p:grpSp>
      <p:grpSp>
        <p:nvGrpSpPr>
          <p:cNvPr id="214" name="Google Shape;214;g372b8e92123_0_1673"/>
          <p:cNvGrpSpPr/>
          <p:nvPr/>
        </p:nvGrpSpPr>
        <p:grpSpPr>
          <a:xfrm>
            <a:off x="3925507" y="1586327"/>
            <a:ext cx="4407490" cy="4643951"/>
            <a:chOff x="2944204" y="1189775"/>
            <a:chExt cx="3305700" cy="3483050"/>
          </a:xfrm>
        </p:grpSpPr>
        <p:sp>
          <p:nvSpPr>
            <p:cNvPr id="215" name="Google Shape;215;g372b8e92123_0_1673"/>
            <p:cNvSpPr/>
            <p:nvPr/>
          </p:nvSpPr>
          <p:spPr>
            <a:xfrm>
              <a:off x="2944204" y="1189775"/>
              <a:ext cx="3305700" cy="669000"/>
            </a:xfrm>
            <a:prstGeom prst="chevron">
              <a:avLst>
                <a:gd name="adj" fmla="val 50000"/>
              </a:avLst>
            </a:prstGeom>
            <a:solidFill>
              <a:srgbClr val="0D5CDF"/>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Objective</a:t>
              </a:r>
              <a:endParaRPr sz="1900">
                <a:solidFill>
                  <a:srgbClr val="FFFFFF"/>
                </a:solidFill>
                <a:latin typeface="Roboto"/>
                <a:ea typeface="Roboto"/>
                <a:cs typeface="Roboto"/>
                <a:sym typeface="Roboto"/>
              </a:endParaRPr>
            </a:p>
          </p:txBody>
        </p:sp>
        <p:sp>
          <p:nvSpPr>
            <p:cNvPr id="216" name="Google Shape;216;g372b8e92123_0_1673"/>
            <p:cNvSpPr txBox="1"/>
            <p:nvPr/>
          </p:nvSpPr>
          <p:spPr>
            <a:xfrm>
              <a:off x="3478949" y="2057125"/>
              <a:ext cx="2236200" cy="261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600">
                  <a:latin typeface="Roboto"/>
                  <a:ea typeface="Roboto"/>
                  <a:cs typeface="Roboto"/>
                  <a:sym typeface="Roboto"/>
                </a:rPr>
                <a:t>Making responsible lending decisions by predicting defaults before they happen.</a:t>
              </a:r>
              <a:endParaRPr sz="1600">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72b8e92123_0_1732"/>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Overview of Missing Values</a:t>
            </a:r>
            <a:endParaRPr/>
          </a:p>
        </p:txBody>
      </p:sp>
      <p:grpSp>
        <p:nvGrpSpPr>
          <p:cNvPr id="223" name="Google Shape;223;g372b8e92123_0_1732"/>
          <p:cNvGrpSpPr/>
          <p:nvPr/>
        </p:nvGrpSpPr>
        <p:grpSpPr>
          <a:xfrm>
            <a:off x="2124114" y="4848437"/>
            <a:ext cx="7943768" cy="857979"/>
            <a:chOff x="1593000" y="2322568"/>
            <a:chExt cx="5957975" cy="643500"/>
          </a:xfrm>
        </p:grpSpPr>
        <p:sp>
          <p:nvSpPr>
            <p:cNvPr id="224" name="Google Shape;224;g372b8e92123_0_1732"/>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5" name="Google Shape;225;g372b8e92123_0_1732"/>
            <p:cNvSpPr/>
            <p:nvPr/>
          </p:nvSpPr>
          <p:spPr>
            <a:xfrm flipH="1">
              <a:off x="2283025" y="2322575"/>
              <a:ext cx="1844400" cy="642600"/>
            </a:xfrm>
            <a:prstGeom prst="rect">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6" name="Google Shape;226;g372b8e92123_0_1732"/>
            <p:cNvSpPr/>
            <p:nvPr/>
          </p:nvSpPr>
          <p:spPr>
            <a:xfrm rot="-5400000">
              <a:off x="3501574" y="1934671"/>
              <a:ext cx="643356" cy="1419149"/>
            </a:xfrm>
            <a:prstGeom prst="flowChartOffpageConnector">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7" name="Google Shape;227;g372b8e92123_0_1732"/>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a:solidFill>
                    <a:srgbClr val="FFFFFF"/>
                  </a:solidFill>
                  <a:latin typeface="Roboto Medium"/>
                  <a:ea typeface="Roboto Medium"/>
                  <a:cs typeface="Roboto Medium"/>
                  <a:sym typeface="Roboto Medium"/>
                </a:rPr>
                <a:t>Previous loans </a:t>
              </a:r>
              <a:r>
                <a:rPr lang="en-US" sz="1300">
                  <a:solidFill>
                    <a:schemeClr val="lt1"/>
                  </a:solidFill>
                  <a:latin typeface="Roboto Medium"/>
                  <a:ea typeface="Roboto Medium"/>
                  <a:cs typeface="Roboto Medium"/>
                  <a:sym typeface="Roboto Medium"/>
                </a:rPr>
                <a:t>performance</a:t>
              </a:r>
              <a:endParaRPr sz="1300">
                <a:solidFill>
                  <a:srgbClr val="FFFFFF"/>
                </a:solidFill>
                <a:latin typeface="Roboto"/>
                <a:ea typeface="Roboto"/>
                <a:cs typeface="Roboto"/>
                <a:sym typeface="Roboto"/>
              </a:endParaRPr>
            </a:p>
          </p:txBody>
        </p:sp>
        <p:sp>
          <p:nvSpPr>
            <p:cNvPr id="228" name="Google Shape;228;g372b8e92123_0_1732"/>
            <p:cNvSpPr/>
            <p:nvPr/>
          </p:nvSpPr>
          <p:spPr>
            <a:xfrm>
              <a:off x="1593000" y="2322568"/>
              <a:ext cx="690000" cy="642300"/>
            </a:xfrm>
            <a:prstGeom prst="rect">
              <a:avLst/>
            </a:prstGeom>
            <a:solidFill>
              <a:srgbClr val="0D5CDF"/>
            </a:solidFill>
            <a:ln>
              <a:noFill/>
            </a:ln>
            <a:effectLst>
              <a:outerShdw blurRad="95250" dist="38100"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9" name="Google Shape;229;g372b8e92123_0_1732"/>
            <p:cNvSpPr/>
            <p:nvPr/>
          </p:nvSpPr>
          <p:spPr>
            <a:xfrm>
              <a:off x="1593000" y="2322575"/>
              <a:ext cx="690000" cy="642600"/>
            </a:xfrm>
            <a:prstGeom prst="rect">
              <a:avLst/>
            </a:prstGeom>
            <a:solidFill>
              <a:srgbClr val="0E63F0"/>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3500">
                  <a:solidFill>
                    <a:srgbClr val="FFFFFF"/>
                  </a:solidFill>
                  <a:latin typeface="Roboto Thin"/>
                  <a:ea typeface="Roboto Thin"/>
                  <a:cs typeface="Roboto Thin"/>
                  <a:sym typeface="Roboto Thin"/>
                </a:rPr>
                <a:t>03</a:t>
              </a:r>
              <a:endParaRPr sz="3500">
                <a:solidFill>
                  <a:srgbClr val="FFFFFF"/>
                </a:solidFill>
                <a:latin typeface="Roboto Thin"/>
                <a:ea typeface="Roboto Thin"/>
                <a:cs typeface="Roboto Thin"/>
                <a:sym typeface="Roboto Thin"/>
              </a:endParaRPr>
            </a:p>
          </p:txBody>
        </p:sp>
        <p:sp>
          <p:nvSpPr>
            <p:cNvPr id="230" name="Google Shape;230;g372b8e92123_0_1732"/>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a:p>
              <a:pPr marL="609600" lvl="0" indent="-374650" algn="l" rtl="0">
                <a:lnSpc>
                  <a:spcPct val="115000"/>
                </a:lnSpc>
                <a:spcBef>
                  <a:spcPts val="0"/>
                </a:spcBef>
                <a:spcAft>
                  <a:spcPts val="0"/>
                </a:spcAft>
                <a:buClr>
                  <a:srgbClr val="0C57D3"/>
                </a:buClr>
                <a:buSzPts val="1100"/>
                <a:buFont typeface="Roboto"/>
                <a:buChar char="●"/>
              </a:pPr>
              <a:r>
                <a:rPr lang="en-US" sz="1100">
                  <a:solidFill>
                    <a:srgbClr val="0C57D3"/>
                  </a:solidFill>
                  <a:latin typeface="Roboto"/>
                  <a:ea typeface="Roboto"/>
                  <a:cs typeface="Roboto"/>
                  <a:sym typeface="Roboto"/>
                </a:rPr>
                <a:t>referredby — </a:t>
              </a:r>
              <a:r>
                <a:rPr lang="en-US" sz="1100" b="1">
                  <a:solidFill>
                    <a:srgbClr val="0C57D3"/>
                  </a:solidFill>
                  <a:latin typeface="Roboto"/>
                  <a:ea typeface="Roboto"/>
                  <a:cs typeface="Roboto"/>
                  <a:sym typeface="Roboto"/>
                </a:rPr>
                <a:t>94.36%</a:t>
              </a:r>
              <a:endParaRPr sz="1100" b="1">
                <a:solidFill>
                  <a:srgbClr val="0C57D3"/>
                </a:solidFill>
                <a:latin typeface="Roboto"/>
                <a:ea typeface="Roboto"/>
                <a:cs typeface="Roboto"/>
                <a:sym typeface="Roboto"/>
              </a:endParaRPr>
            </a:p>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p:txBody>
        </p:sp>
      </p:grpSp>
      <p:grpSp>
        <p:nvGrpSpPr>
          <p:cNvPr id="231" name="Google Shape;231;g372b8e92123_0_1732"/>
          <p:cNvGrpSpPr/>
          <p:nvPr/>
        </p:nvGrpSpPr>
        <p:grpSpPr>
          <a:xfrm>
            <a:off x="2124114" y="3405371"/>
            <a:ext cx="7943768" cy="857979"/>
            <a:chOff x="1593000" y="2322568"/>
            <a:chExt cx="5957975" cy="643500"/>
          </a:xfrm>
        </p:grpSpPr>
        <p:sp>
          <p:nvSpPr>
            <p:cNvPr id="232" name="Google Shape;232;g372b8e92123_0_1732"/>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3" name="Google Shape;233;g372b8e92123_0_1732"/>
            <p:cNvSpPr/>
            <p:nvPr/>
          </p:nvSpPr>
          <p:spPr>
            <a:xfrm flipH="1">
              <a:off x="2283025" y="2322575"/>
              <a:ext cx="1844400" cy="642600"/>
            </a:xfrm>
            <a:prstGeom prst="rect">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4" name="Google Shape;234;g372b8e92123_0_1732"/>
            <p:cNvSpPr/>
            <p:nvPr/>
          </p:nvSpPr>
          <p:spPr>
            <a:xfrm rot="-5400000">
              <a:off x="3501574" y="1934671"/>
              <a:ext cx="643356" cy="1419149"/>
            </a:xfrm>
            <a:prstGeom prst="flowChartOffpageConnector">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5" name="Google Shape;235;g372b8e92123_0_1732"/>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a:solidFill>
                    <a:srgbClr val="FFFFFF"/>
                  </a:solidFill>
                  <a:latin typeface="Roboto Medium"/>
                  <a:ea typeface="Roboto Medium"/>
                  <a:cs typeface="Roboto Medium"/>
                  <a:sym typeface="Roboto Medium"/>
                </a:rPr>
                <a:t>Current loans performance</a:t>
              </a:r>
              <a:endParaRPr sz="1300">
                <a:solidFill>
                  <a:srgbClr val="FFFFFF"/>
                </a:solidFill>
                <a:latin typeface="Roboto"/>
                <a:ea typeface="Roboto"/>
                <a:cs typeface="Roboto"/>
                <a:sym typeface="Roboto"/>
              </a:endParaRPr>
            </a:p>
          </p:txBody>
        </p:sp>
        <p:sp>
          <p:nvSpPr>
            <p:cNvPr id="236" name="Google Shape;236;g372b8e92123_0_1732"/>
            <p:cNvSpPr/>
            <p:nvPr/>
          </p:nvSpPr>
          <p:spPr>
            <a:xfrm>
              <a:off x="1593000" y="2322568"/>
              <a:ext cx="690000" cy="642300"/>
            </a:xfrm>
            <a:prstGeom prst="rect">
              <a:avLst/>
            </a:prstGeom>
            <a:solidFill>
              <a:srgbClr val="0D5CDF"/>
            </a:solidFill>
            <a:ln>
              <a:noFill/>
            </a:ln>
            <a:effectLst>
              <a:outerShdw blurRad="95250" dist="38100"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7" name="Google Shape;237;g372b8e92123_0_1732"/>
            <p:cNvSpPr/>
            <p:nvPr/>
          </p:nvSpPr>
          <p:spPr>
            <a:xfrm>
              <a:off x="1593000" y="2322575"/>
              <a:ext cx="690000" cy="642600"/>
            </a:xfrm>
            <a:prstGeom prst="rect">
              <a:avLst/>
            </a:prstGeom>
            <a:solidFill>
              <a:srgbClr val="0E63F0"/>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3500">
                  <a:solidFill>
                    <a:srgbClr val="FFFFFF"/>
                  </a:solidFill>
                  <a:latin typeface="Roboto Thin"/>
                  <a:ea typeface="Roboto Thin"/>
                  <a:cs typeface="Roboto Thin"/>
                  <a:sym typeface="Roboto Thin"/>
                </a:rPr>
                <a:t>02</a:t>
              </a:r>
              <a:endParaRPr sz="3500">
                <a:solidFill>
                  <a:srgbClr val="FFFFFF"/>
                </a:solidFill>
                <a:latin typeface="Roboto Thin"/>
                <a:ea typeface="Roboto Thin"/>
                <a:cs typeface="Roboto Thin"/>
                <a:sym typeface="Roboto Thin"/>
              </a:endParaRPr>
            </a:p>
          </p:txBody>
        </p:sp>
        <p:sp>
          <p:nvSpPr>
            <p:cNvPr id="238" name="Google Shape;238;g372b8e92123_0_1732"/>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a:p>
              <a:pPr marL="609600" lvl="0" indent="-374650" algn="l" rtl="0">
                <a:lnSpc>
                  <a:spcPct val="115000"/>
                </a:lnSpc>
                <a:spcBef>
                  <a:spcPts val="0"/>
                </a:spcBef>
                <a:spcAft>
                  <a:spcPts val="0"/>
                </a:spcAft>
                <a:buClr>
                  <a:srgbClr val="0C57D3"/>
                </a:buClr>
                <a:buSzPts val="1100"/>
                <a:buFont typeface="Roboto"/>
                <a:buChar char="●"/>
              </a:pPr>
              <a:r>
                <a:rPr lang="en-US" sz="1100">
                  <a:solidFill>
                    <a:srgbClr val="0C57D3"/>
                  </a:solidFill>
                  <a:latin typeface="Roboto"/>
                  <a:ea typeface="Roboto"/>
                  <a:cs typeface="Roboto"/>
                  <a:sym typeface="Roboto"/>
                </a:rPr>
                <a:t>referredby — </a:t>
              </a:r>
              <a:r>
                <a:rPr lang="en-US" sz="1100" b="1">
                  <a:solidFill>
                    <a:srgbClr val="0C57D3"/>
                  </a:solidFill>
                  <a:latin typeface="Roboto"/>
                  <a:ea typeface="Roboto"/>
                  <a:cs typeface="Roboto"/>
                  <a:sym typeface="Roboto"/>
                </a:rPr>
                <a:t>86.56%</a:t>
              </a:r>
              <a:endParaRPr sz="1100" b="1">
                <a:solidFill>
                  <a:srgbClr val="0C57D3"/>
                </a:solidFill>
                <a:latin typeface="Roboto"/>
                <a:ea typeface="Roboto"/>
                <a:cs typeface="Roboto"/>
                <a:sym typeface="Roboto"/>
              </a:endParaRPr>
            </a:p>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p:txBody>
        </p:sp>
      </p:grpSp>
      <p:grpSp>
        <p:nvGrpSpPr>
          <p:cNvPr id="239" name="Google Shape;239;g372b8e92123_0_1732"/>
          <p:cNvGrpSpPr/>
          <p:nvPr/>
        </p:nvGrpSpPr>
        <p:grpSpPr>
          <a:xfrm>
            <a:off x="2124114" y="1962318"/>
            <a:ext cx="7943768" cy="857979"/>
            <a:chOff x="1593000" y="2322568"/>
            <a:chExt cx="5957975" cy="643500"/>
          </a:xfrm>
        </p:grpSpPr>
        <p:sp>
          <p:nvSpPr>
            <p:cNvPr id="240" name="Google Shape;240;g372b8e92123_0_1732"/>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1" name="Google Shape;241;g372b8e92123_0_1732"/>
            <p:cNvSpPr/>
            <p:nvPr/>
          </p:nvSpPr>
          <p:spPr>
            <a:xfrm flipH="1">
              <a:off x="2283025" y="2322575"/>
              <a:ext cx="1844400" cy="642600"/>
            </a:xfrm>
            <a:prstGeom prst="rect">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2" name="Google Shape;242;g372b8e92123_0_1732"/>
            <p:cNvSpPr/>
            <p:nvPr/>
          </p:nvSpPr>
          <p:spPr>
            <a:xfrm rot="-5400000">
              <a:off x="3501574" y="1934671"/>
              <a:ext cx="643356" cy="1419149"/>
            </a:xfrm>
            <a:prstGeom prst="flowChartOffpageConnector">
              <a:avLst/>
            </a:prstGeom>
            <a:solidFill>
              <a:srgbClr val="0C57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3" name="Google Shape;243;g372b8e92123_0_1732"/>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a:solidFill>
                    <a:srgbClr val="FFFFFF"/>
                  </a:solidFill>
                  <a:latin typeface="Roboto Medium"/>
                  <a:ea typeface="Roboto Medium"/>
                  <a:cs typeface="Roboto Medium"/>
                  <a:sym typeface="Roboto Medium"/>
                </a:rPr>
                <a:t>Customer demographic information</a:t>
              </a:r>
              <a:endParaRPr sz="1300">
                <a:solidFill>
                  <a:srgbClr val="FFFFFF"/>
                </a:solidFill>
                <a:latin typeface="Roboto"/>
                <a:ea typeface="Roboto"/>
                <a:cs typeface="Roboto"/>
                <a:sym typeface="Roboto"/>
              </a:endParaRPr>
            </a:p>
          </p:txBody>
        </p:sp>
        <p:sp>
          <p:nvSpPr>
            <p:cNvPr id="244" name="Google Shape;244;g372b8e92123_0_1732"/>
            <p:cNvSpPr/>
            <p:nvPr/>
          </p:nvSpPr>
          <p:spPr>
            <a:xfrm>
              <a:off x="1593000" y="2322568"/>
              <a:ext cx="690000" cy="642300"/>
            </a:xfrm>
            <a:prstGeom prst="rect">
              <a:avLst/>
            </a:prstGeom>
            <a:solidFill>
              <a:srgbClr val="0D5CDF"/>
            </a:solidFill>
            <a:ln>
              <a:noFill/>
            </a:ln>
            <a:effectLst>
              <a:outerShdw blurRad="95250" dist="38100"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5" name="Google Shape;245;g372b8e92123_0_1732"/>
            <p:cNvSpPr/>
            <p:nvPr/>
          </p:nvSpPr>
          <p:spPr>
            <a:xfrm>
              <a:off x="1593000" y="2322575"/>
              <a:ext cx="690000" cy="642600"/>
            </a:xfrm>
            <a:prstGeom prst="rect">
              <a:avLst/>
            </a:prstGeom>
            <a:solidFill>
              <a:srgbClr val="0E63F0"/>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3500">
                  <a:solidFill>
                    <a:srgbClr val="FFFFFF"/>
                  </a:solidFill>
                  <a:latin typeface="Roboto Thin"/>
                  <a:ea typeface="Roboto Thin"/>
                  <a:cs typeface="Roboto Thin"/>
                  <a:sym typeface="Roboto Thin"/>
                </a:rPr>
                <a:t>01</a:t>
              </a:r>
              <a:endParaRPr sz="3500">
                <a:solidFill>
                  <a:srgbClr val="FFFFFF"/>
                </a:solidFill>
                <a:latin typeface="Roboto Thin"/>
                <a:ea typeface="Roboto Thin"/>
                <a:cs typeface="Roboto Thin"/>
                <a:sym typeface="Roboto Thin"/>
              </a:endParaRPr>
            </a:p>
          </p:txBody>
        </p:sp>
        <p:sp>
          <p:nvSpPr>
            <p:cNvPr id="246" name="Google Shape;246;g372b8e92123_0_1732"/>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a:p>
              <a:pPr marL="609600" lvl="0" indent="-374650" algn="l" rtl="0">
                <a:lnSpc>
                  <a:spcPct val="115000"/>
                </a:lnSpc>
                <a:spcBef>
                  <a:spcPts val="0"/>
                </a:spcBef>
                <a:spcAft>
                  <a:spcPts val="0"/>
                </a:spcAft>
                <a:buClr>
                  <a:srgbClr val="0C57D3"/>
                </a:buClr>
                <a:buSzPts val="1100"/>
                <a:buFont typeface="Roboto"/>
                <a:buChar char="●"/>
              </a:pPr>
              <a:r>
                <a:rPr lang="en-US" sz="1100">
                  <a:solidFill>
                    <a:srgbClr val="0C57D3"/>
                  </a:solidFill>
                  <a:latin typeface="Roboto"/>
                  <a:ea typeface="Roboto"/>
                  <a:cs typeface="Roboto"/>
                  <a:sym typeface="Roboto"/>
                </a:rPr>
                <a:t>bank_branch_clients — </a:t>
              </a:r>
              <a:r>
                <a:rPr lang="en-US" sz="1100" b="1">
                  <a:solidFill>
                    <a:srgbClr val="0C57D3"/>
                  </a:solidFill>
                  <a:latin typeface="Roboto"/>
                  <a:ea typeface="Roboto"/>
                  <a:cs typeface="Roboto"/>
                  <a:sym typeface="Roboto"/>
                </a:rPr>
                <a:t>99.06%</a:t>
              </a:r>
              <a:endParaRPr sz="1100" b="1">
                <a:solidFill>
                  <a:srgbClr val="0C57D3"/>
                </a:solidFill>
                <a:latin typeface="Roboto"/>
                <a:ea typeface="Roboto"/>
                <a:cs typeface="Roboto"/>
                <a:sym typeface="Roboto"/>
              </a:endParaRPr>
            </a:p>
            <a:p>
              <a:pPr marL="609600" lvl="0" indent="-374650" algn="l" rtl="0">
                <a:lnSpc>
                  <a:spcPct val="115000"/>
                </a:lnSpc>
                <a:spcBef>
                  <a:spcPts val="0"/>
                </a:spcBef>
                <a:spcAft>
                  <a:spcPts val="0"/>
                </a:spcAft>
                <a:buClr>
                  <a:srgbClr val="0C57D3"/>
                </a:buClr>
                <a:buSzPts val="1100"/>
                <a:buFont typeface="Roboto"/>
                <a:buChar char="●"/>
              </a:pPr>
              <a:r>
                <a:rPr lang="en-US" sz="1100">
                  <a:solidFill>
                    <a:srgbClr val="0C57D3"/>
                  </a:solidFill>
                  <a:latin typeface="Roboto"/>
                  <a:ea typeface="Roboto"/>
                  <a:cs typeface="Roboto"/>
                  <a:sym typeface="Roboto"/>
                </a:rPr>
                <a:t>level_of_education_clients — </a:t>
              </a:r>
              <a:r>
                <a:rPr lang="en-US" sz="1100" b="1">
                  <a:solidFill>
                    <a:srgbClr val="0C57D3"/>
                  </a:solidFill>
                  <a:latin typeface="Roboto"/>
                  <a:ea typeface="Roboto"/>
                  <a:cs typeface="Roboto"/>
                  <a:sym typeface="Roboto"/>
                </a:rPr>
                <a:t>85.88%</a:t>
              </a:r>
              <a:endParaRPr sz="1100" b="1">
                <a:solidFill>
                  <a:srgbClr val="0C57D3"/>
                </a:solidFill>
                <a:latin typeface="Roboto"/>
                <a:ea typeface="Roboto"/>
                <a:cs typeface="Roboto"/>
                <a:sym typeface="Roboto"/>
              </a:endParaRPr>
            </a:p>
            <a:p>
              <a:pPr marL="609600" lvl="0" indent="-374650" algn="l" rtl="0">
                <a:lnSpc>
                  <a:spcPct val="115000"/>
                </a:lnSpc>
                <a:spcBef>
                  <a:spcPts val="0"/>
                </a:spcBef>
                <a:spcAft>
                  <a:spcPts val="0"/>
                </a:spcAft>
                <a:buClr>
                  <a:srgbClr val="0C57D3"/>
                </a:buClr>
                <a:buSzPts val="1100"/>
                <a:buFont typeface="Roboto"/>
                <a:buChar char="●"/>
              </a:pPr>
              <a:r>
                <a:rPr lang="en-US" sz="1100">
                  <a:solidFill>
                    <a:srgbClr val="0C57D3"/>
                  </a:solidFill>
                  <a:latin typeface="Roboto"/>
                  <a:ea typeface="Roboto"/>
                  <a:cs typeface="Roboto"/>
                  <a:sym typeface="Roboto"/>
                </a:rPr>
                <a:t>employment_status_clients — </a:t>
              </a:r>
              <a:r>
                <a:rPr lang="en-US" sz="1100" b="1">
                  <a:solidFill>
                    <a:srgbClr val="0C57D3"/>
                  </a:solidFill>
                  <a:latin typeface="Roboto"/>
                  <a:ea typeface="Roboto"/>
                  <a:cs typeface="Roboto"/>
                  <a:sym typeface="Roboto"/>
                </a:rPr>
                <a:t>14.60%</a:t>
              </a:r>
              <a:endParaRPr sz="1100" b="1">
                <a:solidFill>
                  <a:srgbClr val="0C57D3"/>
                </a:solidFill>
                <a:latin typeface="Roboto"/>
                <a:ea typeface="Roboto"/>
                <a:cs typeface="Roboto"/>
                <a:sym typeface="Roboto"/>
              </a:endParaRPr>
            </a:p>
            <a:p>
              <a:pPr marL="609600" lvl="0" indent="0" algn="l" rtl="0">
                <a:lnSpc>
                  <a:spcPct val="115000"/>
                </a:lnSpc>
                <a:spcBef>
                  <a:spcPts val="0"/>
                </a:spcBef>
                <a:spcAft>
                  <a:spcPts val="0"/>
                </a:spcAft>
                <a:buNone/>
              </a:pPr>
              <a:endParaRPr sz="1100">
                <a:solidFill>
                  <a:srgbClr val="0C57D3"/>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72b8e92123_0_1799"/>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Exploration of Numerical Features</a:t>
            </a:r>
            <a:endParaRPr/>
          </a:p>
        </p:txBody>
      </p:sp>
      <p:pic>
        <p:nvPicPr>
          <p:cNvPr id="253" name="Google Shape;253;g372b8e92123_0_1799"/>
          <p:cNvPicPr preferRelativeResize="0"/>
          <p:nvPr/>
        </p:nvPicPr>
        <p:blipFill>
          <a:blip r:embed="rId3">
            <a:alphaModFix/>
          </a:blip>
          <a:stretch>
            <a:fillRect/>
          </a:stretch>
        </p:blipFill>
        <p:spPr>
          <a:xfrm>
            <a:off x="152400" y="1401895"/>
            <a:ext cx="5524500" cy="4333875"/>
          </a:xfrm>
          <a:prstGeom prst="rect">
            <a:avLst/>
          </a:prstGeom>
          <a:noFill/>
          <a:ln>
            <a:noFill/>
          </a:ln>
        </p:spPr>
      </p:pic>
      <p:pic>
        <p:nvPicPr>
          <p:cNvPr id="254" name="Google Shape;254;g372b8e92123_0_1799"/>
          <p:cNvPicPr preferRelativeResize="0"/>
          <p:nvPr/>
        </p:nvPicPr>
        <p:blipFill>
          <a:blip r:embed="rId4">
            <a:alphaModFix/>
          </a:blip>
          <a:stretch>
            <a:fillRect/>
          </a:stretch>
        </p:blipFill>
        <p:spPr>
          <a:xfrm>
            <a:off x="5829300" y="1401895"/>
            <a:ext cx="5657850" cy="4333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72b8e92123_0_2354"/>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Exploration of Categorical Features</a:t>
            </a:r>
            <a:endParaRPr/>
          </a:p>
        </p:txBody>
      </p:sp>
      <p:pic>
        <p:nvPicPr>
          <p:cNvPr id="261" name="Google Shape;261;g372b8e92123_0_2354"/>
          <p:cNvPicPr preferRelativeResize="0"/>
          <p:nvPr/>
        </p:nvPicPr>
        <p:blipFill rotWithShape="1">
          <a:blip r:embed="rId3">
            <a:alphaModFix/>
          </a:blip>
          <a:srcRect t="-6470" b="6470"/>
          <a:stretch/>
        </p:blipFill>
        <p:spPr>
          <a:xfrm>
            <a:off x="0" y="1538200"/>
            <a:ext cx="3922701" cy="2695425"/>
          </a:xfrm>
          <a:prstGeom prst="rect">
            <a:avLst/>
          </a:prstGeom>
          <a:noFill/>
          <a:ln>
            <a:noFill/>
          </a:ln>
        </p:spPr>
      </p:pic>
      <p:pic>
        <p:nvPicPr>
          <p:cNvPr id="262" name="Google Shape;262;g372b8e92123_0_2354"/>
          <p:cNvPicPr preferRelativeResize="0"/>
          <p:nvPr/>
        </p:nvPicPr>
        <p:blipFill>
          <a:blip r:embed="rId4">
            <a:alphaModFix/>
          </a:blip>
          <a:stretch>
            <a:fillRect/>
          </a:stretch>
        </p:blipFill>
        <p:spPr>
          <a:xfrm>
            <a:off x="4102150" y="1674491"/>
            <a:ext cx="3922701" cy="2695434"/>
          </a:xfrm>
          <a:prstGeom prst="rect">
            <a:avLst/>
          </a:prstGeom>
          <a:noFill/>
          <a:ln>
            <a:noFill/>
          </a:ln>
        </p:spPr>
      </p:pic>
      <p:pic>
        <p:nvPicPr>
          <p:cNvPr id="263" name="Google Shape;263;g372b8e92123_0_2354"/>
          <p:cNvPicPr preferRelativeResize="0"/>
          <p:nvPr/>
        </p:nvPicPr>
        <p:blipFill>
          <a:blip r:embed="rId5">
            <a:alphaModFix/>
          </a:blip>
          <a:stretch>
            <a:fillRect/>
          </a:stretch>
        </p:blipFill>
        <p:spPr>
          <a:xfrm>
            <a:off x="8204325" y="1674500"/>
            <a:ext cx="3922704" cy="2695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72b8e92123_0_2365"/>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Data preprocessing</a:t>
            </a:r>
            <a:endParaRPr/>
          </a:p>
        </p:txBody>
      </p:sp>
      <p:sp>
        <p:nvSpPr>
          <p:cNvPr id="270" name="Google Shape;270;g372b8e92123_0_2365"/>
          <p:cNvSpPr txBox="1">
            <a:spLocks noGrp="1"/>
          </p:cNvSpPr>
          <p:nvPr>
            <p:ph type="body" idx="1"/>
          </p:nvPr>
        </p:nvSpPr>
        <p:spPr>
          <a:xfrm>
            <a:off x="839812" y="1413813"/>
            <a:ext cx="5157900" cy="823800"/>
          </a:xfrm>
          <a:prstGeom prst="rect">
            <a:avLst/>
          </a:prstGeom>
        </p:spPr>
        <p:txBody>
          <a:bodyPr spcFirstLastPara="1" wrap="square" lIns="0" tIns="0" rIns="0" bIns="0" anchor="b" anchorCtr="0">
            <a:noAutofit/>
          </a:bodyPr>
          <a:lstStyle/>
          <a:p>
            <a:pPr marL="0" lvl="0" indent="0" algn="l" rtl="0">
              <a:spcBef>
                <a:spcPts val="1000"/>
              </a:spcBef>
              <a:spcAft>
                <a:spcPts val="0"/>
              </a:spcAft>
              <a:buNone/>
            </a:pPr>
            <a:r>
              <a:rPr lang="en-US"/>
              <a:t>Target variable mapping</a:t>
            </a:r>
            <a:endParaRPr/>
          </a:p>
        </p:txBody>
      </p:sp>
      <p:sp>
        <p:nvSpPr>
          <p:cNvPr id="271" name="Google Shape;271;g372b8e92123_0_2365"/>
          <p:cNvSpPr txBox="1">
            <a:spLocks noGrp="1"/>
          </p:cNvSpPr>
          <p:nvPr>
            <p:ph type="body" idx="2"/>
          </p:nvPr>
        </p:nvSpPr>
        <p:spPr>
          <a:xfrm>
            <a:off x="839800" y="2267388"/>
            <a:ext cx="5157900" cy="577800"/>
          </a:xfrm>
          <a:prstGeom prst="rect">
            <a:avLst/>
          </a:prstGeom>
        </p:spPr>
        <p:txBody>
          <a:bodyPr spcFirstLastPara="1" wrap="square" lIns="0" tIns="0" rIns="0" bIns="0" anchor="t" anchorCtr="0">
            <a:noAutofit/>
          </a:bodyPr>
          <a:lstStyle/>
          <a:p>
            <a:pPr marL="0" lvl="0" indent="0" algn="l" rtl="0">
              <a:spcBef>
                <a:spcPts val="1000"/>
              </a:spcBef>
              <a:spcAft>
                <a:spcPts val="0"/>
              </a:spcAft>
              <a:buNone/>
            </a:pPr>
            <a:r>
              <a:rPr lang="en-US" sz="2200"/>
              <a:t>good_bad_flag: 1=good, 0=bad</a:t>
            </a:r>
            <a:endParaRPr sz="2200"/>
          </a:p>
          <a:p>
            <a:pPr marL="0" lvl="0" indent="0" algn="l" rtl="0">
              <a:spcBef>
                <a:spcPts val="1000"/>
              </a:spcBef>
              <a:spcAft>
                <a:spcPts val="0"/>
              </a:spcAft>
              <a:buNone/>
            </a:pPr>
            <a:endParaRPr sz="2200"/>
          </a:p>
        </p:txBody>
      </p:sp>
      <p:sp>
        <p:nvSpPr>
          <p:cNvPr id="272" name="Google Shape;272;g372b8e92123_0_2365"/>
          <p:cNvSpPr txBox="1">
            <a:spLocks noGrp="1"/>
          </p:cNvSpPr>
          <p:nvPr>
            <p:ph type="body" idx="3"/>
          </p:nvPr>
        </p:nvSpPr>
        <p:spPr>
          <a:xfrm>
            <a:off x="6172200" y="1413813"/>
            <a:ext cx="5183100" cy="823800"/>
          </a:xfrm>
          <a:prstGeom prst="rect">
            <a:avLst/>
          </a:prstGeom>
        </p:spPr>
        <p:txBody>
          <a:bodyPr spcFirstLastPara="1" wrap="square" lIns="0" tIns="0" rIns="0" bIns="0" anchor="b" anchorCtr="0">
            <a:noAutofit/>
          </a:bodyPr>
          <a:lstStyle/>
          <a:p>
            <a:pPr marL="0" lvl="0" indent="0" algn="l" rtl="0">
              <a:spcBef>
                <a:spcPts val="1000"/>
              </a:spcBef>
              <a:spcAft>
                <a:spcPts val="0"/>
              </a:spcAft>
              <a:buNone/>
            </a:pPr>
            <a:r>
              <a:rPr lang="en-US"/>
              <a:t>Aggregation</a:t>
            </a:r>
            <a:endParaRPr/>
          </a:p>
        </p:txBody>
      </p:sp>
      <p:sp>
        <p:nvSpPr>
          <p:cNvPr id="273" name="Google Shape;273;g372b8e92123_0_2365"/>
          <p:cNvSpPr txBox="1">
            <a:spLocks noGrp="1"/>
          </p:cNvSpPr>
          <p:nvPr>
            <p:ph type="body" idx="4"/>
          </p:nvPr>
        </p:nvSpPr>
        <p:spPr>
          <a:xfrm>
            <a:off x="6172200" y="2505075"/>
            <a:ext cx="5183100" cy="3684600"/>
          </a:xfrm>
          <a:prstGeom prst="rect">
            <a:avLst/>
          </a:prstGeom>
        </p:spPr>
        <p:txBody>
          <a:bodyPr spcFirstLastPara="1" wrap="square" lIns="0" tIns="0" rIns="0" bIns="0" anchor="t" anchorCtr="0">
            <a:noAutofit/>
          </a:bodyPr>
          <a:lstStyle/>
          <a:p>
            <a:pPr marL="0" lvl="0" indent="0" algn="l" rtl="0">
              <a:spcBef>
                <a:spcPts val="1000"/>
              </a:spcBef>
              <a:spcAft>
                <a:spcPts val="0"/>
              </a:spcAft>
              <a:buNone/>
            </a:pPr>
            <a:r>
              <a:rPr lang="en-US" sz="1800" b="1"/>
              <a:t>Aggregates previous loans data by customerid to compute:</a:t>
            </a:r>
            <a:endParaRPr sz="1800" b="1"/>
          </a:p>
          <a:p>
            <a:pPr marL="457200" lvl="0" indent="-342900" algn="l" rtl="0">
              <a:spcBef>
                <a:spcPts val="1000"/>
              </a:spcBef>
              <a:spcAft>
                <a:spcPts val="0"/>
              </a:spcAft>
              <a:buSzPts val="1800"/>
              <a:buChar char="●"/>
            </a:pPr>
            <a:r>
              <a:rPr lang="en-US" sz="1800"/>
              <a:t>prev_loan_count: number of prior loans</a:t>
            </a:r>
            <a:endParaRPr sz="1800"/>
          </a:p>
          <a:p>
            <a:pPr marL="457200" lvl="0" indent="-342900" algn="l" rtl="0">
              <a:spcBef>
                <a:spcPts val="0"/>
              </a:spcBef>
              <a:spcAft>
                <a:spcPts val="0"/>
              </a:spcAft>
              <a:buSzPts val="1800"/>
              <a:buChar char="●"/>
            </a:pPr>
            <a:r>
              <a:rPr lang="en-US" sz="1800"/>
              <a:t>prev_loan_amt_mean: average historical loan amount</a:t>
            </a:r>
            <a:endParaRPr sz="1800"/>
          </a:p>
          <a:p>
            <a:pPr marL="457200" lvl="0" indent="-342900" algn="l" rtl="0">
              <a:spcBef>
                <a:spcPts val="0"/>
              </a:spcBef>
              <a:spcAft>
                <a:spcPts val="0"/>
              </a:spcAft>
              <a:buSzPts val="1800"/>
              <a:buChar char="●"/>
            </a:pPr>
            <a:r>
              <a:rPr lang="en-US" sz="1800"/>
              <a:t>prev_term_mean: average historical loan term (days)</a:t>
            </a:r>
            <a:endParaRPr sz="1800"/>
          </a:p>
          <a:p>
            <a:pPr marL="457200" lvl="0" indent="-342900" algn="l" rtl="0">
              <a:spcBef>
                <a:spcPts val="0"/>
              </a:spcBef>
              <a:spcAft>
                <a:spcPts val="0"/>
              </a:spcAft>
              <a:buSzPts val="1800"/>
              <a:buChar char="●"/>
            </a:pPr>
            <a:r>
              <a:rPr lang="en-US" sz="1800"/>
              <a:t>prev_delay_mean: average delay from application to first repayment</a:t>
            </a:r>
            <a:endParaRPr sz="1800"/>
          </a:p>
          <a:p>
            <a:pPr marL="0" lvl="0" indent="0" algn="l" rtl="0">
              <a:spcBef>
                <a:spcPts val="1000"/>
              </a:spcBef>
              <a:spcAft>
                <a:spcPts val="0"/>
              </a:spcAft>
              <a:buNone/>
            </a:pPr>
            <a:r>
              <a:rPr lang="en-US" sz="1800" b="1"/>
              <a:t>Merged with current loan &amp; demographics → full modeling table</a:t>
            </a:r>
            <a:endParaRPr sz="1800" b="1"/>
          </a:p>
        </p:txBody>
      </p:sp>
      <p:pic>
        <p:nvPicPr>
          <p:cNvPr id="274" name="Google Shape;274;g372b8e92123_0_2365"/>
          <p:cNvPicPr preferRelativeResize="0"/>
          <p:nvPr/>
        </p:nvPicPr>
        <p:blipFill>
          <a:blip r:embed="rId3">
            <a:alphaModFix/>
          </a:blip>
          <a:stretch>
            <a:fillRect/>
          </a:stretch>
        </p:blipFill>
        <p:spPr>
          <a:xfrm>
            <a:off x="721976" y="2874950"/>
            <a:ext cx="4133100" cy="3242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372806f1c58_0_0"/>
          <p:cNvSpPr txBox="1">
            <a:spLocks noGrp="1"/>
          </p:cNvSpPr>
          <p:nvPr>
            <p:ph type="title"/>
          </p:nvPr>
        </p:nvSpPr>
        <p:spPr>
          <a:xfrm>
            <a:off x="838200" y="312738"/>
            <a:ext cx="9401100" cy="9366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None/>
            </a:pPr>
            <a:r>
              <a:rPr lang="en-US"/>
              <a:t>Model Comparison Overview</a:t>
            </a:r>
            <a:endParaRPr/>
          </a:p>
        </p:txBody>
      </p:sp>
      <p:sp>
        <p:nvSpPr>
          <p:cNvPr id="281" name="Google Shape;281;g372806f1c58_0_0"/>
          <p:cNvSpPr/>
          <p:nvPr/>
        </p:nvSpPr>
        <p:spPr>
          <a:xfrm>
            <a:off x="7749660" y="3159475"/>
            <a:ext cx="2140500" cy="615900"/>
          </a:xfrm>
          <a:prstGeom prst="roundRect">
            <a:avLst>
              <a:gd name="adj" fmla="val 50000"/>
            </a:avLst>
          </a:prstGeom>
          <a:solidFill>
            <a:srgbClr val="061D49"/>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878">
                <a:solidFill>
                  <a:srgbClr val="FFFFFF"/>
                </a:solidFill>
                <a:latin typeface="Roboto"/>
                <a:ea typeface="Roboto"/>
                <a:cs typeface="Roboto"/>
                <a:sym typeface="Roboto"/>
              </a:rPr>
              <a:t>Trees</a:t>
            </a:r>
            <a:endParaRPr sz="2504">
              <a:solidFill>
                <a:srgbClr val="FFFFFF"/>
              </a:solidFill>
            </a:endParaRPr>
          </a:p>
        </p:txBody>
      </p:sp>
      <p:sp>
        <p:nvSpPr>
          <p:cNvPr id="282" name="Google Shape;282;g372806f1c58_0_0"/>
          <p:cNvSpPr/>
          <p:nvPr/>
        </p:nvSpPr>
        <p:spPr>
          <a:xfrm>
            <a:off x="2281938" y="3159475"/>
            <a:ext cx="2140500" cy="615900"/>
          </a:xfrm>
          <a:prstGeom prst="roundRect">
            <a:avLst>
              <a:gd name="adj" fmla="val 50000"/>
            </a:avLst>
          </a:prstGeom>
          <a:solidFill>
            <a:schemeClr val="dk1"/>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878">
                <a:solidFill>
                  <a:srgbClr val="FFFFFF"/>
                </a:solidFill>
                <a:latin typeface="Roboto"/>
                <a:ea typeface="Roboto"/>
                <a:cs typeface="Roboto"/>
                <a:sym typeface="Roboto"/>
              </a:rPr>
              <a:t>Non - Trees</a:t>
            </a:r>
            <a:endParaRPr sz="1878">
              <a:solidFill>
                <a:srgbClr val="FFFFFF"/>
              </a:solidFill>
            </a:endParaRPr>
          </a:p>
        </p:txBody>
      </p:sp>
      <p:sp>
        <p:nvSpPr>
          <p:cNvPr id="283" name="Google Shape;283;g372806f1c58_0_0"/>
          <p:cNvSpPr/>
          <p:nvPr/>
        </p:nvSpPr>
        <p:spPr>
          <a:xfrm>
            <a:off x="1118938" y="4835670"/>
            <a:ext cx="2140500" cy="615900"/>
          </a:xfrm>
          <a:prstGeom prst="roundRect">
            <a:avLst>
              <a:gd name="adj" fmla="val 50000"/>
            </a:avLst>
          </a:prstGeom>
          <a:solidFill>
            <a:srgbClr val="336CC9"/>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669">
                <a:solidFill>
                  <a:srgbClr val="FFFFFF"/>
                </a:solidFill>
                <a:latin typeface="Roboto"/>
                <a:ea typeface="Roboto"/>
                <a:cs typeface="Roboto"/>
                <a:sym typeface="Roboto"/>
              </a:rPr>
              <a:t>Logistic Regression</a:t>
            </a:r>
            <a:endParaRPr sz="1669">
              <a:solidFill>
                <a:srgbClr val="FFFFFF"/>
              </a:solidFill>
            </a:endParaRPr>
          </a:p>
        </p:txBody>
      </p:sp>
      <p:sp>
        <p:nvSpPr>
          <p:cNvPr id="284" name="Google Shape;284;g372806f1c58_0_0"/>
          <p:cNvSpPr/>
          <p:nvPr/>
        </p:nvSpPr>
        <p:spPr>
          <a:xfrm>
            <a:off x="3471449" y="4835670"/>
            <a:ext cx="2140500" cy="615900"/>
          </a:xfrm>
          <a:prstGeom prst="roundRect">
            <a:avLst>
              <a:gd name="adj" fmla="val 50000"/>
            </a:avLst>
          </a:prstGeom>
          <a:solidFill>
            <a:srgbClr val="336CC9"/>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669">
                <a:solidFill>
                  <a:srgbClr val="FFFFFF"/>
                </a:solidFill>
                <a:latin typeface="Roboto"/>
                <a:ea typeface="Roboto"/>
                <a:cs typeface="Roboto"/>
                <a:sym typeface="Roboto"/>
              </a:rPr>
              <a:t>KNN</a:t>
            </a:r>
            <a:endParaRPr sz="1669">
              <a:solidFill>
                <a:srgbClr val="FFFFFF"/>
              </a:solidFill>
            </a:endParaRPr>
          </a:p>
        </p:txBody>
      </p:sp>
      <p:sp>
        <p:nvSpPr>
          <p:cNvPr id="285" name="Google Shape;285;g372806f1c58_0_0"/>
          <p:cNvSpPr/>
          <p:nvPr/>
        </p:nvSpPr>
        <p:spPr>
          <a:xfrm>
            <a:off x="6580041" y="4835618"/>
            <a:ext cx="2140500" cy="615900"/>
          </a:xfrm>
          <a:prstGeom prst="roundRect">
            <a:avLst>
              <a:gd name="adj" fmla="val 50000"/>
            </a:avLst>
          </a:prstGeom>
          <a:solidFill>
            <a:srgbClr val="336CC9"/>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669">
                <a:solidFill>
                  <a:srgbClr val="FFFFFF"/>
                </a:solidFill>
                <a:latin typeface="Roboto"/>
                <a:ea typeface="Roboto"/>
                <a:cs typeface="Roboto"/>
                <a:sym typeface="Roboto"/>
              </a:rPr>
              <a:t>LightGBM</a:t>
            </a:r>
            <a:endParaRPr sz="2296">
              <a:solidFill>
                <a:srgbClr val="FFFFFF"/>
              </a:solidFill>
            </a:endParaRPr>
          </a:p>
        </p:txBody>
      </p:sp>
      <p:sp>
        <p:nvSpPr>
          <p:cNvPr id="286" name="Google Shape;286;g372806f1c58_0_0"/>
          <p:cNvSpPr/>
          <p:nvPr/>
        </p:nvSpPr>
        <p:spPr>
          <a:xfrm>
            <a:off x="8932552" y="4835618"/>
            <a:ext cx="2140500" cy="615900"/>
          </a:xfrm>
          <a:prstGeom prst="roundRect">
            <a:avLst>
              <a:gd name="adj" fmla="val 50000"/>
            </a:avLst>
          </a:prstGeom>
          <a:solidFill>
            <a:srgbClr val="336CC9"/>
          </a:solidFill>
          <a:ln>
            <a:noFill/>
          </a:ln>
        </p:spPr>
        <p:txBody>
          <a:bodyPr spcFirstLastPara="1" wrap="square" lIns="127225" tIns="127225" rIns="127225" bIns="127225" anchor="ctr" anchorCtr="0">
            <a:noAutofit/>
          </a:bodyPr>
          <a:lstStyle/>
          <a:p>
            <a:pPr marL="0" lvl="0" indent="0" algn="ctr" rtl="0">
              <a:spcBef>
                <a:spcPts val="0"/>
              </a:spcBef>
              <a:spcAft>
                <a:spcPts val="0"/>
              </a:spcAft>
              <a:buNone/>
            </a:pPr>
            <a:r>
              <a:rPr lang="en-US" sz="1669">
                <a:solidFill>
                  <a:srgbClr val="FFFFFF"/>
                </a:solidFill>
                <a:latin typeface="Roboto"/>
                <a:ea typeface="Roboto"/>
                <a:cs typeface="Roboto"/>
                <a:sym typeface="Roboto"/>
              </a:rPr>
              <a:t>Catboost</a:t>
            </a:r>
            <a:endParaRPr sz="2296">
              <a:solidFill>
                <a:srgbClr val="FFFFFF"/>
              </a:solidFill>
            </a:endParaRPr>
          </a:p>
        </p:txBody>
      </p:sp>
      <p:cxnSp>
        <p:nvCxnSpPr>
          <p:cNvPr id="287" name="Google Shape;287;g372806f1c58_0_0"/>
          <p:cNvCxnSpPr>
            <a:stCxn id="282" idx="2"/>
            <a:endCxn id="284" idx="0"/>
          </p:cNvCxnSpPr>
          <p:nvPr/>
        </p:nvCxnSpPr>
        <p:spPr>
          <a:xfrm rot="-5400000" flipH="1">
            <a:off x="3416838" y="3710725"/>
            <a:ext cx="1060200" cy="1189500"/>
          </a:xfrm>
          <a:prstGeom prst="bentConnector3">
            <a:avLst>
              <a:gd name="adj1" fmla="val 50005"/>
            </a:avLst>
          </a:prstGeom>
          <a:noFill/>
          <a:ln w="9525" cap="flat" cmpd="sng">
            <a:solidFill>
              <a:srgbClr val="C2C2C2"/>
            </a:solidFill>
            <a:prstDash val="solid"/>
            <a:round/>
            <a:headEnd type="none" w="sm" len="sm"/>
            <a:tailEnd type="none" w="sm" len="sm"/>
          </a:ln>
        </p:spPr>
      </p:cxnSp>
      <p:cxnSp>
        <p:nvCxnSpPr>
          <p:cNvPr id="288" name="Google Shape;288;g372806f1c58_0_0"/>
          <p:cNvCxnSpPr>
            <a:stCxn id="283" idx="0"/>
            <a:endCxn id="282" idx="2"/>
          </p:cNvCxnSpPr>
          <p:nvPr/>
        </p:nvCxnSpPr>
        <p:spPr>
          <a:xfrm rot="-5400000">
            <a:off x="2240638" y="3724020"/>
            <a:ext cx="1060200" cy="1163100"/>
          </a:xfrm>
          <a:prstGeom prst="bentConnector3">
            <a:avLst>
              <a:gd name="adj1" fmla="val 50005"/>
            </a:avLst>
          </a:prstGeom>
          <a:noFill/>
          <a:ln w="9525" cap="flat" cmpd="sng">
            <a:solidFill>
              <a:srgbClr val="C2C2C2"/>
            </a:solidFill>
            <a:prstDash val="solid"/>
            <a:round/>
            <a:headEnd type="none" w="sm" len="sm"/>
            <a:tailEnd type="none" w="sm" len="sm"/>
          </a:ln>
        </p:spPr>
      </p:cxnSp>
      <p:cxnSp>
        <p:nvCxnSpPr>
          <p:cNvPr id="289" name="Google Shape;289;g372806f1c58_0_0"/>
          <p:cNvCxnSpPr>
            <a:stCxn id="281" idx="2"/>
            <a:endCxn id="286" idx="0"/>
          </p:cNvCxnSpPr>
          <p:nvPr/>
        </p:nvCxnSpPr>
        <p:spPr>
          <a:xfrm rot="-5400000" flipH="1">
            <a:off x="8881260" y="3714025"/>
            <a:ext cx="1060200" cy="1182900"/>
          </a:xfrm>
          <a:prstGeom prst="bentConnector3">
            <a:avLst>
              <a:gd name="adj1" fmla="val 50003"/>
            </a:avLst>
          </a:prstGeom>
          <a:noFill/>
          <a:ln w="9525" cap="flat" cmpd="sng">
            <a:solidFill>
              <a:srgbClr val="C2C2C2"/>
            </a:solidFill>
            <a:prstDash val="solid"/>
            <a:round/>
            <a:headEnd type="none" w="sm" len="sm"/>
            <a:tailEnd type="none" w="sm" len="sm"/>
          </a:ln>
        </p:spPr>
      </p:cxnSp>
      <p:cxnSp>
        <p:nvCxnSpPr>
          <p:cNvPr id="290" name="Google Shape;290;g372806f1c58_0_0"/>
          <p:cNvCxnSpPr>
            <a:stCxn id="285" idx="0"/>
            <a:endCxn id="281" idx="2"/>
          </p:cNvCxnSpPr>
          <p:nvPr/>
        </p:nvCxnSpPr>
        <p:spPr>
          <a:xfrm rot="-5400000">
            <a:off x="7705041" y="3720668"/>
            <a:ext cx="1060200" cy="1169700"/>
          </a:xfrm>
          <a:prstGeom prst="bentConnector3">
            <a:avLst>
              <a:gd name="adj1" fmla="val 50003"/>
            </a:avLst>
          </a:prstGeom>
          <a:noFill/>
          <a:ln w="9525" cap="flat" cmpd="sng">
            <a:solidFill>
              <a:srgbClr val="C2C2C2"/>
            </a:solidFill>
            <a:prstDash val="solid"/>
            <a:round/>
            <a:headEnd type="none" w="sm" len="sm"/>
            <a:tailEnd type="none" w="sm" len="sm"/>
          </a:ln>
        </p:spPr>
      </p:cxnSp>
      <p:sp>
        <p:nvSpPr>
          <p:cNvPr id="291" name="Google Shape;291;g372806f1c58_0_0"/>
          <p:cNvSpPr txBox="1"/>
          <p:nvPr/>
        </p:nvSpPr>
        <p:spPr>
          <a:xfrm>
            <a:off x="843025" y="1679750"/>
            <a:ext cx="10101600" cy="93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a:latin typeface="Lato"/>
                <a:ea typeface="Lato"/>
                <a:cs typeface="Lato"/>
                <a:sym typeface="Lato"/>
              </a:rPr>
              <a:t>We experimented with four models to compare predictive accuracy and select the most effective one for our task.</a:t>
            </a:r>
            <a:endParaRPr sz="2800">
              <a:solidFill>
                <a:schemeClr val="dk1"/>
              </a:solidFill>
              <a:latin typeface="Lato"/>
              <a:ea typeface="Lato"/>
              <a:cs typeface="Lato"/>
              <a:sym typeface="Lato"/>
            </a:endParaRPr>
          </a:p>
        </p:txBody>
      </p:sp>
      <p:sp>
        <p:nvSpPr>
          <p:cNvPr id="292" name="Google Shape;292;g372806f1c58_0_0"/>
          <p:cNvSpPr/>
          <p:nvPr/>
        </p:nvSpPr>
        <p:spPr>
          <a:xfrm>
            <a:off x="2098300" y="5528375"/>
            <a:ext cx="181800" cy="3756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3" name="Google Shape;293;g372806f1c58_0_0"/>
          <p:cNvSpPr txBox="1"/>
          <p:nvPr/>
        </p:nvSpPr>
        <p:spPr>
          <a:xfrm>
            <a:off x="1635100" y="5903975"/>
            <a:ext cx="1108200" cy="31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900">
                <a:latin typeface="Lato"/>
                <a:ea typeface="Lato"/>
                <a:cs typeface="Lato"/>
                <a:sym typeface="Lato"/>
              </a:rPr>
              <a:t>Baseline</a:t>
            </a:r>
            <a:endParaRPr sz="27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72806f1c58_0_672"/>
          <p:cNvSpPr txBox="1">
            <a:spLocks noGrp="1"/>
          </p:cNvSpPr>
          <p:nvPr>
            <p:ph type="title"/>
          </p:nvPr>
        </p:nvSpPr>
        <p:spPr>
          <a:xfrm>
            <a:off x="838200" y="312738"/>
            <a:ext cx="9401100" cy="9366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None/>
            </a:pPr>
            <a:r>
              <a:rPr lang="en-US"/>
              <a:t>Model Comparison Overview</a:t>
            </a:r>
            <a:endParaRPr/>
          </a:p>
        </p:txBody>
      </p:sp>
      <p:sp>
        <p:nvSpPr>
          <p:cNvPr id="300" name="Google Shape;300;g372806f1c58_0_672"/>
          <p:cNvSpPr txBox="1"/>
          <p:nvPr/>
        </p:nvSpPr>
        <p:spPr>
          <a:xfrm>
            <a:off x="843025" y="1679750"/>
            <a:ext cx="10101600" cy="1920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a:latin typeface="Lato"/>
                <a:ea typeface="Lato"/>
                <a:cs typeface="Lato"/>
                <a:sym typeface="Lato"/>
              </a:rPr>
              <a:t>We experimented with four models to compare predictive accuracy and select the most effective one for our task.</a:t>
            </a:r>
            <a:endParaRPr sz="2000">
              <a:latin typeface="Lato"/>
              <a:ea typeface="Lato"/>
              <a:cs typeface="Lato"/>
              <a:sym typeface="Lato"/>
            </a:endParaRPr>
          </a:p>
          <a:p>
            <a:pPr marL="4572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10 - folds cross-validation</a:t>
            </a:r>
            <a:endParaRPr sz="2000">
              <a:latin typeface="Lato"/>
              <a:ea typeface="Lato"/>
              <a:cs typeface="Lato"/>
              <a:sym typeface="Lato"/>
            </a:endParaRPr>
          </a:p>
          <a:p>
            <a:pPr marL="4572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Criterion: Accuracy ( i.e. 1 - Error)</a:t>
            </a:r>
            <a:endParaRPr sz="2000">
              <a:latin typeface="Lato"/>
              <a:ea typeface="Lato"/>
              <a:cs typeface="Lato"/>
              <a:sym typeface="Lato"/>
            </a:endParaRPr>
          </a:p>
          <a:p>
            <a:pPr marL="457200" lvl="0" indent="0" algn="l" rtl="0">
              <a:lnSpc>
                <a:spcPct val="150000"/>
              </a:lnSpc>
              <a:spcBef>
                <a:spcPts val="0"/>
              </a:spcBef>
              <a:spcAft>
                <a:spcPts val="0"/>
              </a:spcAft>
              <a:buNone/>
            </a:pPr>
            <a:r>
              <a:rPr lang="en-US" sz="2000">
                <a:latin typeface="Lato"/>
                <a:ea typeface="Lato"/>
                <a:cs typeface="Lato"/>
                <a:sym typeface="Lato"/>
              </a:rPr>
              <a:t> </a:t>
            </a:r>
            <a:br>
              <a:rPr lang="en-US" sz="2000">
                <a:latin typeface="Lato"/>
                <a:ea typeface="Lato"/>
                <a:cs typeface="Lato"/>
                <a:sym typeface="Lato"/>
              </a:rPr>
            </a:br>
            <a:br>
              <a:rPr lang="en-US" sz="2000">
                <a:latin typeface="Lato"/>
                <a:ea typeface="Lato"/>
                <a:cs typeface="Lato"/>
                <a:sym typeface="Lato"/>
              </a:rPr>
            </a:br>
            <a:endParaRPr sz="2000">
              <a:latin typeface="Lato"/>
              <a:ea typeface="Lato"/>
              <a:cs typeface="Lato"/>
              <a:sym typeface="Lato"/>
            </a:endParaRPr>
          </a:p>
        </p:txBody>
      </p:sp>
      <p:graphicFrame>
        <p:nvGraphicFramePr>
          <p:cNvPr id="301" name="Google Shape;301;g372806f1c58_0_672"/>
          <p:cNvGraphicFramePr/>
          <p:nvPr/>
        </p:nvGraphicFramePr>
        <p:xfrm>
          <a:off x="2044413" y="3790550"/>
          <a:ext cx="3000000" cy="3000000"/>
        </p:xfrm>
        <a:graphic>
          <a:graphicData uri="http://schemas.openxmlformats.org/drawingml/2006/table">
            <a:tbl>
              <a:tblPr>
                <a:noFill/>
                <a:tableStyleId>{4DDAEDEC-7DFD-46E7-8778-FF0E9CC43F70}</a:tableStyleId>
              </a:tblPr>
              <a:tblGrid>
                <a:gridCol w="2921000">
                  <a:extLst>
                    <a:ext uri="{9D8B030D-6E8A-4147-A177-3AD203B41FA5}">
                      <a16:colId xmlns:a16="http://schemas.microsoft.com/office/drawing/2014/main" val="20000"/>
                    </a:ext>
                  </a:extLst>
                </a:gridCol>
                <a:gridCol w="1703125">
                  <a:extLst>
                    <a:ext uri="{9D8B030D-6E8A-4147-A177-3AD203B41FA5}">
                      <a16:colId xmlns:a16="http://schemas.microsoft.com/office/drawing/2014/main" val="20001"/>
                    </a:ext>
                  </a:extLst>
                </a:gridCol>
                <a:gridCol w="1699500">
                  <a:extLst>
                    <a:ext uri="{9D8B030D-6E8A-4147-A177-3AD203B41FA5}">
                      <a16:colId xmlns:a16="http://schemas.microsoft.com/office/drawing/2014/main" val="20002"/>
                    </a:ext>
                  </a:extLst>
                </a:gridCol>
                <a:gridCol w="1779550">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n-US" b="1">
                          <a:solidFill>
                            <a:schemeClr val="lt1"/>
                          </a:solidFill>
                        </a:rPr>
                        <a:t>Models</a:t>
                      </a:r>
                      <a:endParaRPr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336CC9"/>
                    </a:solidFill>
                  </a:tcPr>
                </a:tc>
                <a:tc>
                  <a:txBody>
                    <a:bodyPr/>
                    <a:lstStyle/>
                    <a:p>
                      <a:pPr marL="0" lvl="0" indent="0" algn="ctr" rtl="0">
                        <a:spcBef>
                          <a:spcPts val="0"/>
                        </a:spcBef>
                        <a:spcAft>
                          <a:spcPts val="0"/>
                        </a:spcAft>
                        <a:buNone/>
                      </a:pPr>
                      <a:r>
                        <a:rPr lang="en-US" b="1">
                          <a:solidFill>
                            <a:schemeClr val="lt1"/>
                          </a:solidFill>
                        </a:rPr>
                        <a:t>CV Accuracy</a:t>
                      </a:r>
                      <a:endParaRPr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336CC9"/>
                    </a:solidFill>
                  </a:tcPr>
                </a:tc>
                <a:tc>
                  <a:txBody>
                    <a:bodyPr/>
                    <a:lstStyle/>
                    <a:p>
                      <a:pPr marL="0" lvl="0" indent="0" algn="ctr" rtl="0">
                        <a:spcBef>
                          <a:spcPts val="0"/>
                        </a:spcBef>
                        <a:spcAft>
                          <a:spcPts val="0"/>
                        </a:spcAft>
                        <a:buNone/>
                      </a:pPr>
                      <a:r>
                        <a:rPr lang="en-US" b="1">
                          <a:solidFill>
                            <a:schemeClr val="lt1"/>
                          </a:solidFill>
                        </a:rPr>
                        <a:t>Zindi Score</a:t>
                      </a:r>
                      <a:endParaRPr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336CC9"/>
                    </a:solidFill>
                  </a:tcPr>
                </a:tc>
                <a:tc>
                  <a:txBody>
                    <a:bodyPr/>
                    <a:lstStyle/>
                    <a:p>
                      <a:pPr marL="0" lvl="0" indent="0" algn="ctr" rtl="0">
                        <a:spcBef>
                          <a:spcPts val="0"/>
                        </a:spcBef>
                        <a:spcAft>
                          <a:spcPts val="0"/>
                        </a:spcAft>
                        <a:buNone/>
                      </a:pPr>
                      <a:r>
                        <a:rPr lang="en-US" b="1">
                          <a:solidFill>
                            <a:schemeClr val="lt1"/>
                          </a:solidFill>
                        </a:rPr>
                        <a:t>Difference</a:t>
                      </a:r>
                      <a:endParaRPr b="1">
                        <a:solidFill>
                          <a:schemeClr val="lt1"/>
                        </a:solidFill>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336CC9"/>
                    </a:solidFill>
                  </a:tcPr>
                </a:tc>
                <a:extLst>
                  <a:ext uri="{0D108BD9-81ED-4DB2-BD59-A6C34878D82A}">
                    <a16:rowId xmlns:a16="http://schemas.microsoft.com/office/drawing/2014/main" val="10000"/>
                  </a:ext>
                </a:extLst>
              </a:tr>
              <a:tr h="417425">
                <a:tc>
                  <a:txBody>
                    <a:bodyPr/>
                    <a:lstStyle/>
                    <a:p>
                      <a:pPr marL="0" lvl="0" indent="0" algn="ctr" rtl="0">
                        <a:spcBef>
                          <a:spcPts val="0"/>
                        </a:spcBef>
                        <a:spcAft>
                          <a:spcPts val="0"/>
                        </a:spcAft>
                        <a:buNone/>
                      </a:pPr>
                      <a:r>
                        <a:rPr lang="en-US"/>
                        <a:t>Logistic Regression (Baseline)</a:t>
                      </a:r>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ctr" rtl="0">
                        <a:spcBef>
                          <a:spcPts val="0"/>
                        </a:spcBef>
                        <a:spcAft>
                          <a:spcPts val="0"/>
                        </a:spcAft>
                        <a:buNone/>
                      </a:pPr>
                      <a:r>
                        <a:rPr lang="en-US"/>
                        <a:t>0.7429</a:t>
                      </a:r>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ctr" rtl="0">
                        <a:spcBef>
                          <a:spcPts val="0"/>
                        </a:spcBef>
                        <a:spcAft>
                          <a:spcPts val="0"/>
                        </a:spcAft>
                        <a:buNone/>
                      </a:pPr>
                      <a:r>
                        <a:rPr lang="en-US"/>
                        <a:t>-</a:t>
                      </a:r>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ctr" rtl="0">
                        <a:spcBef>
                          <a:spcPts val="0"/>
                        </a:spcBef>
                        <a:spcAft>
                          <a:spcPts val="0"/>
                        </a:spcAft>
                        <a:buNone/>
                      </a:pPr>
                      <a:r>
                        <a:rPr lang="en-US"/>
                        <a:t>-</a:t>
                      </a:r>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417425">
                <a:tc>
                  <a:txBody>
                    <a:bodyPr/>
                    <a:lstStyle/>
                    <a:p>
                      <a:pPr marL="0" lvl="0" indent="0" algn="ctr" rtl="0">
                        <a:spcBef>
                          <a:spcPts val="0"/>
                        </a:spcBef>
                        <a:spcAft>
                          <a:spcPts val="0"/>
                        </a:spcAft>
                        <a:buNone/>
                      </a:pPr>
                      <a:r>
                        <a:rPr lang="en-US"/>
                        <a:t>KNN</a:t>
                      </a:r>
                      <a:endParaRPr/>
                    </a:p>
                  </a:txBody>
                  <a:tcPr marL="91425" marR="91425" marT="91425" marB="91425"/>
                </a:tc>
                <a:tc>
                  <a:txBody>
                    <a:bodyPr/>
                    <a:lstStyle/>
                    <a:p>
                      <a:pPr marL="0" lvl="0" indent="0" algn="ctr" rtl="0">
                        <a:spcBef>
                          <a:spcPts val="0"/>
                        </a:spcBef>
                        <a:spcAft>
                          <a:spcPts val="0"/>
                        </a:spcAft>
                        <a:buNone/>
                      </a:pPr>
                      <a:r>
                        <a:rPr lang="en-US"/>
                        <a:t>0.7832</a:t>
                      </a:r>
                      <a:endParaRPr/>
                    </a:p>
                  </a:txBody>
                  <a:tcPr marL="91425" marR="91425" marT="91425" marB="91425"/>
                </a:tc>
                <a:tc>
                  <a:txBody>
                    <a:bodyPr/>
                    <a:lstStyle/>
                    <a:p>
                      <a:pPr marL="0" lvl="0" indent="0" algn="ctr" rtl="0">
                        <a:spcBef>
                          <a:spcPts val="0"/>
                        </a:spcBef>
                        <a:spcAft>
                          <a:spcPts val="0"/>
                        </a:spcAft>
                        <a:buNone/>
                      </a:pPr>
                      <a:r>
                        <a:rPr lang="en-US"/>
                        <a:t>-</a:t>
                      </a:r>
                      <a:endParaRPr/>
                    </a:p>
                  </a:txBody>
                  <a:tcPr marL="91425" marR="91425" marT="91425" marB="91425"/>
                </a:tc>
                <a:tc>
                  <a:txBody>
                    <a:bodyPr/>
                    <a:lstStyle/>
                    <a:p>
                      <a:pPr marL="0" lvl="0" indent="0" algn="ctr" rtl="0">
                        <a:spcBef>
                          <a:spcPts val="0"/>
                        </a:spcBef>
                        <a:spcAft>
                          <a:spcPts val="0"/>
                        </a:spcAft>
                        <a:buNone/>
                      </a:pPr>
                      <a:r>
                        <a:rPr lang="en-US"/>
                        <a:t>-</a:t>
                      </a:r>
                      <a:endParaRPr/>
                    </a:p>
                  </a:txBody>
                  <a:tcPr marL="91425" marR="91425" marT="91425" marB="91425"/>
                </a:tc>
                <a:extLst>
                  <a:ext uri="{0D108BD9-81ED-4DB2-BD59-A6C34878D82A}">
                    <a16:rowId xmlns:a16="http://schemas.microsoft.com/office/drawing/2014/main" val="10002"/>
                  </a:ext>
                </a:extLst>
              </a:tr>
              <a:tr h="417425">
                <a:tc>
                  <a:txBody>
                    <a:bodyPr/>
                    <a:lstStyle/>
                    <a:p>
                      <a:pPr marL="0" lvl="0" indent="0" algn="ctr" rtl="0">
                        <a:spcBef>
                          <a:spcPts val="0"/>
                        </a:spcBef>
                        <a:spcAft>
                          <a:spcPts val="0"/>
                        </a:spcAft>
                        <a:buNone/>
                      </a:pPr>
                      <a:r>
                        <a:rPr lang="en-US"/>
                        <a:t>LightGBM</a:t>
                      </a:r>
                      <a:endParaRPr/>
                    </a:p>
                  </a:txBody>
                  <a:tcPr marL="91425" marR="91425" marT="91425" marB="91425"/>
                </a:tc>
                <a:tc>
                  <a:txBody>
                    <a:bodyPr/>
                    <a:lstStyle/>
                    <a:p>
                      <a:pPr marL="0" lvl="0" indent="0" algn="ctr" rtl="0">
                        <a:spcBef>
                          <a:spcPts val="0"/>
                        </a:spcBef>
                        <a:spcAft>
                          <a:spcPts val="0"/>
                        </a:spcAft>
                        <a:buNone/>
                      </a:pPr>
                      <a:r>
                        <a:rPr lang="en-US"/>
                        <a:t>0.7889</a:t>
                      </a:r>
                      <a:endParaRPr/>
                    </a:p>
                  </a:txBody>
                  <a:tcPr marL="91425" marR="91425" marT="91425" marB="91425"/>
                </a:tc>
                <a:tc>
                  <a:txBody>
                    <a:bodyPr/>
                    <a:lstStyle/>
                    <a:p>
                      <a:pPr marL="0" lvl="0" indent="0" algn="ctr" rtl="0">
                        <a:spcBef>
                          <a:spcPts val="0"/>
                        </a:spcBef>
                        <a:spcAft>
                          <a:spcPts val="0"/>
                        </a:spcAft>
                        <a:buNone/>
                      </a:pPr>
                      <a:r>
                        <a:rPr lang="en-US"/>
                        <a:t>0.7874</a:t>
                      </a:r>
                      <a:endParaRPr/>
                    </a:p>
                  </a:txBody>
                  <a:tcPr marL="91425" marR="91425" marT="91425" marB="91425"/>
                </a:tc>
                <a:tc>
                  <a:txBody>
                    <a:bodyPr/>
                    <a:lstStyle/>
                    <a:p>
                      <a:pPr marL="0" lvl="0" indent="0" algn="ctr" rtl="0">
                        <a:spcBef>
                          <a:spcPts val="0"/>
                        </a:spcBef>
                        <a:spcAft>
                          <a:spcPts val="0"/>
                        </a:spcAft>
                        <a:buNone/>
                      </a:pPr>
                      <a:r>
                        <a:rPr lang="en-US"/>
                        <a:t>0.0015</a:t>
                      </a:r>
                      <a:endParaRPr/>
                    </a:p>
                  </a:txBody>
                  <a:tcPr marL="91425" marR="91425" marT="91425" marB="91425"/>
                </a:tc>
                <a:extLst>
                  <a:ext uri="{0D108BD9-81ED-4DB2-BD59-A6C34878D82A}">
                    <a16:rowId xmlns:a16="http://schemas.microsoft.com/office/drawing/2014/main" val="10003"/>
                  </a:ext>
                </a:extLst>
              </a:tr>
              <a:tr h="417425">
                <a:tc>
                  <a:txBody>
                    <a:bodyPr/>
                    <a:lstStyle/>
                    <a:p>
                      <a:pPr marL="0" lvl="0" indent="0" algn="ctr" rtl="0">
                        <a:spcBef>
                          <a:spcPts val="0"/>
                        </a:spcBef>
                        <a:spcAft>
                          <a:spcPts val="0"/>
                        </a:spcAft>
                        <a:buNone/>
                      </a:pPr>
                      <a:r>
                        <a:rPr lang="en-US" b="1"/>
                        <a:t>CatBoost</a:t>
                      </a:r>
                      <a:endParaRPr b="1"/>
                    </a:p>
                  </a:txBody>
                  <a:tcPr marL="91425" marR="91425" marT="91425" marB="91425"/>
                </a:tc>
                <a:tc>
                  <a:txBody>
                    <a:bodyPr/>
                    <a:lstStyle/>
                    <a:p>
                      <a:pPr marL="0" lvl="0" indent="0" algn="ctr" rtl="0">
                        <a:spcBef>
                          <a:spcPts val="0"/>
                        </a:spcBef>
                        <a:spcAft>
                          <a:spcPts val="0"/>
                        </a:spcAft>
                        <a:buNone/>
                      </a:pPr>
                      <a:r>
                        <a:rPr lang="en-US" b="1"/>
                        <a:t>0.7919</a:t>
                      </a:r>
                      <a:endParaRPr b="1"/>
                    </a:p>
                  </a:txBody>
                  <a:tcPr marL="91425" marR="91425" marT="91425" marB="91425"/>
                </a:tc>
                <a:tc>
                  <a:txBody>
                    <a:bodyPr/>
                    <a:lstStyle/>
                    <a:p>
                      <a:pPr marL="0" lvl="0" indent="0" algn="ctr" rtl="0">
                        <a:spcBef>
                          <a:spcPts val="0"/>
                        </a:spcBef>
                        <a:spcAft>
                          <a:spcPts val="0"/>
                        </a:spcAft>
                        <a:buNone/>
                      </a:pPr>
                      <a:r>
                        <a:rPr lang="en-US" b="1"/>
                        <a:t>0.7931</a:t>
                      </a:r>
                      <a:endParaRPr b="1"/>
                    </a:p>
                  </a:txBody>
                  <a:tcPr marL="91425" marR="91425" marT="91425" marB="91425"/>
                </a:tc>
                <a:tc>
                  <a:txBody>
                    <a:bodyPr/>
                    <a:lstStyle/>
                    <a:p>
                      <a:pPr marL="0" lvl="0" indent="0" algn="ctr" rtl="0">
                        <a:spcBef>
                          <a:spcPts val="0"/>
                        </a:spcBef>
                        <a:spcAft>
                          <a:spcPts val="0"/>
                        </a:spcAft>
                        <a:buNone/>
                      </a:pPr>
                      <a:r>
                        <a:rPr lang="en-US"/>
                        <a:t>0.0012</a:t>
                      </a:r>
                      <a:endParaRPr/>
                    </a:p>
                  </a:txBody>
                  <a:tcPr marL="91425" marR="91425" marT="91425" marB="91425"/>
                </a:tc>
                <a:extLst>
                  <a:ext uri="{0D108BD9-81ED-4DB2-BD59-A6C34878D82A}">
                    <a16:rowId xmlns:a16="http://schemas.microsoft.com/office/drawing/2014/main" val="10004"/>
                  </a:ext>
                </a:extLst>
              </a:tr>
            </a:tbl>
          </a:graphicData>
        </a:graphic>
      </p:graphicFrame>
      <p:pic>
        <p:nvPicPr>
          <p:cNvPr id="302" name="Google Shape;302;g372806f1c58_0_672"/>
          <p:cNvPicPr preferRelativeResize="0"/>
          <p:nvPr/>
        </p:nvPicPr>
        <p:blipFill>
          <a:blip r:embed="rId3">
            <a:alphaModFix/>
          </a:blip>
          <a:stretch>
            <a:fillRect/>
          </a:stretch>
        </p:blipFill>
        <p:spPr>
          <a:xfrm>
            <a:off x="2721675" y="5512750"/>
            <a:ext cx="261475" cy="273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72806f1c58_0_850"/>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Feature Engineering  - All Models</a:t>
            </a:r>
            <a:endParaRPr/>
          </a:p>
        </p:txBody>
      </p:sp>
      <p:sp>
        <p:nvSpPr>
          <p:cNvPr id="309" name="Google Shape;309;g372806f1c58_0_850"/>
          <p:cNvSpPr/>
          <p:nvPr/>
        </p:nvSpPr>
        <p:spPr>
          <a:xfrm>
            <a:off x="0" y="1739277"/>
            <a:ext cx="4342824" cy="838535"/>
          </a:xfrm>
          <a:prstGeom prst="homePlate">
            <a:avLst>
              <a:gd name="adj" fmla="val 50000"/>
            </a:avLst>
          </a:prstGeom>
          <a:solidFill>
            <a:srgbClr val="0942A1"/>
          </a:solidFill>
          <a:ln>
            <a:noFill/>
          </a:ln>
        </p:spPr>
        <p:txBody>
          <a:bodyPr spcFirstLastPara="1" wrap="square" lIns="130175" tIns="130175" rIns="130175" bIns="130175" anchor="ctr" anchorCtr="0">
            <a:noAutofit/>
          </a:bodyPr>
          <a:lstStyle/>
          <a:p>
            <a:pPr marL="0" lvl="0" indent="0" algn="ctr" rtl="0">
              <a:spcBef>
                <a:spcPts val="0"/>
              </a:spcBef>
              <a:spcAft>
                <a:spcPts val="0"/>
              </a:spcAft>
              <a:buNone/>
            </a:pPr>
            <a:r>
              <a:rPr lang="en-US" sz="2349" b="1">
                <a:solidFill>
                  <a:srgbClr val="FFFFFF"/>
                </a:solidFill>
                <a:latin typeface="Roboto"/>
                <a:ea typeface="Roboto"/>
                <a:cs typeface="Roboto"/>
                <a:sym typeface="Roboto"/>
              </a:rPr>
              <a:t>Data Aggregation</a:t>
            </a:r>
            <a:endParaRPr sz="2349" b="1">
              <a:solidFill>
                <a:srgbClr val="FFFFFF"/>
              </a:solidFill>
              <a:latin typeface="Roboto"/>
              <a:ea typeface="Roboto"/>
              <a:cs typeface="Roboto"/>
              <a:sym typeface="Roboto"/>
            </a:endParaRPr>
          </a:p>
        </p:txBody>
      </p:sp>
      <p:sp>
        <p:nvSpPr>
          <p:cNvPr id="310" name="Google Shape;310;g372806f1c58_0_850"/>
          <p:cNvSpPr/>
          <p:nvPr/>
        </p:nvSpPr>
        <p:spPr>
          <a:xfrm>
            <a:off x="3903016" y="1739300"/>
            <a:ext cx="4047499" cy="838535"/>
          </a:xfrm>
          <a:prstGeom prst="chevron">
            <a:avLst>
              <a:gd name="adj" fmla="val 50000"/>
            </a:avLst>
          </a:prstGeom>
          <a:solidFill>
            <a:srgbClr val="0D5CDF"/>
          </a:solidFill>
          <a:ln>
            <a:noFill/>
          </a:ln>
        </p:spPr>
        <p:txBody>
          <a:bodyPr spcFirstLastPara="1" wrap="square" lIns="130175" tIns="130175" rIns="130175" bIns="130175" anchor="ctr" anchorCtr="0">
            <a:noAutofit/>
          </a:bodyPr>
          <a:lstStyle/>
          <a:p>
            <a:pPr marL="0" lvl="0" indent="0" algn="ctr" rtl="0">
              <a:spcBef>
                <a:spcPts val="0"/>
              </a:spcBef>
              <a:spcAft>
                <a:spcPts val="0"/>
              </a:spcAft>
              <a:buNone/>
            </a:pPr>
            <a:r>
              <a:rPr lang="en-US" sz="2349" b="1">
                <a:solidFill>
                  <a:schemeClr val="lt1"/>
                </a:solidFill>
                <a:latin typeface="Roboto"/>
                <a:ea typeface="Roboto"/>
                <a:cs typeface="Roboto"/>
                <a:sym typeface="Roboto"/>
              </a:rPr>
              <a:t>Date Manipulation</a:t>
            </a:r>
            <a:endParaRPr sz="2317" b="1">
              <a:solidFill>
                <a:srgbClr val="FFFFFF"/>
              </a:solidFill>
              <a:latin typeface="Roboto"/>
              <a:ea typeface="Roboto"/>
              <a:cs typeface="Roboto"/>
              <a:sym typeface="Roboto"/>
            </a:endParaRPr>
          </a:p>
        </p:txBody>
      </p:sp>
      <p:sp>
        <p:nvSpPr>
          <p:cNvPr id="311" name="Google Shape;311;g372806f1c58_0_850"/>
          <p:cNvSpPr/>
          <p:nvPr/>
        </p:nvSpPr>
        <p:spPr>
          <a:xfrm>
            <a:off x="7519836" y="1739300"/>
            <a:ext cx="4047499" cy="838535"/>
          </a:xfrm>
          <a:prstGeom prst="chevron">
            <a:avLst>
              <a:gd name="adj" fmla="val 50000"/>
            </a:avLst>
          </a:prstGeom>
          <a:solidFill>
            <a:srgbClr val="307AF3"/>
          </a:solidFill>
          <a:ln>
            <a:noFill/>
          </a:ln>
        </p:spPr>
        <p:txBody>
          <a:bodyPr spcFirstLastPara="1" wrap="square" lIns="130175" tIns="130175" rIns="130175" bIns="130175" anchor="ctr" anchorCtr="0">
            <a:noAutofit/>
          </a:bodyPr>
          <a:lstStyle/>
          <a:p>
            <a:pPr marL="0" lvl="0" indent="0" algn="ctr" rtl="0">
              <a:spcBef>
                <a:spcPts val="0"/>
              </a:spcBef>
              <a:spcAft>
                <a:spcPts val="0"/>
              </a:spcAft>
              <a:buNone/>
            </a:pPr>
            <a:r>
              <a:rPr lang="en-US" sz="2317" b="1">
                <a:solidFill>
                  <a:srgbClr val="FFFFFF"/>
                </a:solidFill>
                <a:latin typeface="Roboto"/>
                <a:ea typeface="Roboto"/>
                <a:cs typeface="Roboto"/>
                <a:sym typeface="Roboto"/>
              </a:rPr>
              <a:t>Feature Selection</a:t>
            </a:r>
            <a:endParaRPr sz="2317" b="1">
              <a:solidFill>
                <a:srgbClr val="FFFFFF"/>
              </a:solidFill>
              <a:latin typeface="Roboto"/>
              <a:ea typeface="Roboto"/>
              <a:cs typeface="Roboto"/>
              <a:sym typeface="Roboto"/>
            </a:endParaRPr>
          </a:p>
        </p:txBody>
      </p:sp>
      <p:sp>
        <p:nvSpPr>
          <p:cNvPr id="312" name="Google Shape;312;g372806f1c58_0_850"/>
          <p:cNvSpPr txBox="1"/>
          <p:nvPr/>
        </p:nvSpPr>
        <p:spPr>
          <a:xfrm>
            <a:off x="411612" y="3429000"/>
            <a:ext cx="3519600" cy="1502400"/>
          </a:xfrm>
          <a:prstGeom prst="rect">
            <a:avLst/>
          </a:prstGeom>
          <a:noFill/>
          <a:ln>
            <a:noFill/>
          </a:ln>
        </p:spPr>
        <p:txBody>
          <a:bodyPr spcFirstLastPara="1" wrap="square" lIns="107250" tIns="107250" rIns="107250" bIns="107250" anchor="t" anchorCtr="0">
            <a:spAutoFit/>
          </a:bodyPr>
          <a:lstStyle/>
          <a:p>
            <a:pPr marL="0" lvl="0" indent="0" algn="l" rtl="0">
              <a:lnSpc>
                <a:spcPct val="115000"/>
              </a:lnSpc>
              <a:spcBef>
                <a:spcPts val="0"/>
              </a:spcBef>
              <a:spcAft>
                <a:spcPts val="0"/>
              </a:spcAft>
              <a:buNone/>
            </a:pPr>
            <a:r>
              <a:rPr lang="en-US" sz="1877">
                <a:latin typeface="Roboto"/>
                <a:ea typeface="Roboto"/>
                <a:cs typeface="Roboto"/>
                <a:sym typeface="Roboto"/>
              </a:rPr>
              <a:t>Covert previous loan dataset into previous loan behaviours columns to aggregate on custom level</a:t>
            </a:r>
            <a:endParaRPr sz="1642"/>
          </a:p>
        </p:txBody>
      </p:sp>
      <p:sp>
        <p:nvSpPr>
          <p:cNvPr id="313" name="Google Shape;313;g372806f1c58_0_850"/>
          <p:cNvSpPr txBox="1"/>
          <p:nvPr/>
        </p:nvSpPr>
        <p:spPr>
          <a:xfrm>
            <a:off x="3935105" y="3429000"/>
            <a:ext cx="4321800" cy="1502400"/>
          </a:xfrm>
          <a:prstGeom prst="rect">
            <a:avLst/>
          </a:prstGeom>
          <a:noFill/>
          <a:ln>
            <a:noFill/>
          </a:ln>
        </p:spPr>
        <p:txBody>
          <a:bodyPr spcFirstLastPara="1" wrap="square" lIns="107250" tIns="107250" rIns="107250" bIns="107250" anchor="t" anchorCtr="0">
            <a:spAutoFit/>
          </a:bodyPr>
          <a:lstStyle/>
          <a:p>
            <a:pPr marL="536385" lvl="0" indent="-387389" algn="l" rtl="0">
              <a:lnSpc>
                <a:spcPct val="115000"/>
              </a:lnSpc>
              <a:spcBef>
                <a:spcPts val="0"/>
              </a:spcBef>
              <a:spcAft>
                <a:spcPts val="0"/>
              </a:spcAft>
              <a:buSzPts val="1877"/>
              <a:buFont typeface="Roboto"/>
              <a:buChar char="-"/>
            </a:pPr>
            <a:r>
              <a:rPr lang="en-US" sz="1877">
                <a:latin typeface="Roboto"/>
                <a:ea typeface="Roboto"/>
                <a:cs typeface="Roboto"/>
                <a:sym typeface="Roboto"/>
              </a:rPr>
              <a:t>Birthday into </a:t>
            </a:r>
            <a:r>
              <a:rPr lang="en-US" sz="1877" b="1">
                <a:latin typeface="Roboto"/>
                <a:ea typeface="Roboto"/>
                <a:cs typeface="Roboto"/>
                <a:sym typeface="Roboto"/>
              </a:rPr>
              <a:t>Age</a:t>
            </a:r>
            <a:endParaRPr sz="1877" b="1">
              <a:latin typeface="Roboto"/>
              <a:ea typeface="Roboto"/>
              <a:cs typeface="Roboto"/>
              <a:sym typeface="Roboto"/>
            </a:endParaRPr>
          </a:p>
          <a:p>
            <a:pPr marL="536385" lvl="0" indent="-387389" algn="l" rtl="0">
              <a:lnSpc>
                <a:spcPct val="115000"/>
              </a:lnSpc>
              <a:spcBef>
                <a:spcPts val="0"/>
              </a:spcBef>
              <a:spcAft>
                <a:spcPts val="0"/>
              </a:spcAft>
              <a:buSzPts val="1877"/>
              <a:buFont typeface="Roboto"/>
              <a:buChar char="-"/>
            </a:pPr>
            <a:r>
              <a:rPr lang="en-US" sz="1877" b="1">
                <a:latin typeface="Roboto"/>
                <a:ea typeface="Roboto"/>
                <a:cs typeface="Roboto"/>
                <a:sym typeface="Roboto"/>
              </a:rPr>
              <a:t>Approval_delay</a:t>
            </a:r>
            <a:r>
              <a:rPr lang="en-US" sz="1877">
                <a:latin typeface="Roboto"/>
                <a:ea typeface="Roboto"/>
                <a:cs typeface="Roboto"/>
                <a:sym typeface="Roboto"/>
              </a:rPr>
              <a:t> </a:t>
            </a:r>
            <a:endParaRPr sz="1877">
              <a:latin typeface="Roboto"/>
              <a:ea typeface="Roboto"/>
              <a:cs typeface="Roboto"/>
              <a:sym typeface="Roboto"/>
            </a:endParaRPr>
          </a:p>
          <a:p>
            <a:pPr marL="0" lvl="0" indent="536385" algn="l" rtl="0">
              <a:lnSpc>
                <a:spcPct val="115000"/>
              </a:lnSpc>
              <a:spcBef>
                <a:spcPts val="0"/>
              </a:spcBef>
              <a:spcAft>
                <a:spcPts val="0"/>
              </a:spcAft>
              <a:buNone/>
            </a:pPr>
            <a:r>
              <a:rPr lang="en-US" sz="1877">
                <a:latin typeface="Roboto"/>
                <a:ea typeface="Roboto"/>
                <a:cs typeface="Roboto"/>
                <a:sym typeface="Roboto"/>
              </a:rPr>
              <a:t>= Approval_date - Creation_date </a:t>
            </a:r>
            <a:endParaRPr sz="1877">
              <a:latin typeface="Roboto"/>
              <a:ea typeface="Roboto"/>
              <a:cs typeface="Roboto"/>
              <a:sym typeface="Roboto"/>
            </a:endParaRPr>
          </a:p>
          <a:p>
            <a:pPr marL="0" lvl="0" indent="0" algn="l" rtl="0">
              <a:lnSpc>
                <a:spcPct val="115000"/>
              </a:lnSpc>
              <a:spcBef>
                <a:spcPts val="0"/>
              </a:spcBef>
              <a:spcAft>
                <a:spcPts val="0"/>
              </a:spcAft>
              <a:buNone/>
            </a:pPr>
            <a:endParaRPr sz="1877">
              <a:latin typeface="Roboto"/>
              <a:ea typeface="Roboto"/>
              <a:cs typeface="Roboto"/>
              <a:sym typeface="Roboto"/>
            </a:endParaRPr>
          </a:p>
        </p:txBody>
      </p:sp>
      <p:sp>
        <p:nvSpPr>
          <p:cNvPr id="314" name="Google Shape;314;g372806f1c58_0_850"/>
          <p:cNvSpPr txBox="1"/>
          <p:nvPr/>
        </p:nvSpPr>
        <p:spPr>
          <a:xfrm>
            <a:off x="8141287" y="3429000"/>
            <a:ext cx="3519600" cy="1502400"/>
          </a:xfrm>
          <a:prstGeom prst="rect">
            <a:avLst/>
          </a:prstGeom>
          <a:noFill/>
          <a:ln>
            <a:noFill/>
          </a:ln>
        </p:spPr>
        <p:txBody>
          <a:bodyPr spcFirstLastPara="1" wrap="square" lIns="107250" tIns="107250" rIns="107250" bIns="107250" anchor="t" anchorCtr="0">
            <a:spAutoFit/>
          </a:bodyPr>
          <a:lstStyle/>
          <a:p>
            <a:pPr marL="0" lvl="0" indent="0" algn="l" rtl="0">
              <a:lnSpc>
                <a:spcPct val="115000"/>
              </a:lnSpc>
              <a:spcBef>
                <a:spcPts val="0"/>
              </a:spcBef>
              <a:spcAft>
                <a:spcPts val="0"/>
              </a:spcAft>
              <a:buNone/>
            </a:pPr>
            <a:r>
              <a:rPr lang="en-US" sz="1877">
                <a:latin typeface="Roboto"/>
                <a:ea typeface="Roboto"/>
                <a:cs typeface="Roboto"/>
                <a:sym typeface="Roboto"/>
              </a:rPr>
              <a:t>Manually drop some columns which don’t have predict value:</a:t>
            </a:r>
            <a:endParaRPr sz="1877">
              <a:latin typeface="Roboto"/>
              <a:ea typeface="Roboto"/>
              <a:cs typeface="Roboto"/>
              <a:sym typeface="Roboto"/>
            </a:endParaRPr>
          </a:p>
          <a:p>
            <a:pPr marL="536385" lvl="0" indent="-387389" algn="l" rtl="0">
              <a:lnSpc>
                <a:spcPct val="115000"/>
              </a:lnSpc>
              <a:spcBef>
                <a:spcPts val="0"/>
              </a:spcBef>
              <a:spcAft>
                <a:spcPts val="0"/>
              </a:spcAft>
              <a:buSzPts val="1877"/>
              <a:buFont typeface="Roboto"/>
              <a:buChar char="-"/>
            </a:pPr>
            <a:r>
              <a:rPr lang="en-US" sz="1877">
                <a:latin typeface="Roboto"/>
                <a:ea typeface="Roboto"/>
                <a:cs typeface="Roboto"/>
                <a:sym typeface="Roboto"/>
              </a:rPr>
              <a:t>custome_id </a:t>
            </a:r>
            <a:endParaRPr sz="1877">
              <a:latin typeface="Roboto"/>
              <a:ea typeface="Roboto"/>
              <a:cs typeface="Roboto"/>
              <a:sym typeface="Roboto"/>
            </a:endParaRPr>
          </a:p>
          <a:p>
            <a:pPr marL="536385" lvl="0" indent="-387389" algn="l" rtl="0">
              <a:lnSpc>
                <a:spcPct val="115000"/>
              </a:lnSpc>
              <a:spcBef>
                <a:spcPts val="0"/>
              </a:spcBef>
              <a:spcAft>
                <a:spcPts val="0"/>
              </a:spcAft>
              <a:buSzPts val="1877"/>
              <a:buFont typeface="Roboto"/>
              <a:buChar char="-"/>
            </a:pPr>
            <a:r>
              <a:rPr lang="en-US" sz="1877">
                <a:latin typeface="Roboto"/>
                <a:ea typeface="Roboto"/>
                <a:cs typeface="Roboto"/>
                <a:sym typeface="Roboto"/>
              </a:rPr>
              <a:t>system_id</a:t>
            </a:r>
            <a:endParaRPr sz="1877">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372806f1c58_0_868"/>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Feature Engineering - Non-trees </a:t>
            </a:r>
            <a:endParaRPr/>
          </a:p>
        </p:txBody>
      </p:sp>
      <p:grpSp>
        <p:nvGrpSpPr>
          <p:cNvPr id="321" name="Google Shape;321;g372806f1c58_0_868"/>
          <p:cNvGrpSpPr/>
          <p:nvPr/>
        </p:nvGrpSpPr>
        <p:grpSpPr>
          <a:xfrm>
            <a:off x="28637" y="2610525"/>
            <a:ext cx="4151558" cy="2197145"/>
            <a:chOff x="161892" y="1823989"/>
            <a:chExt cx="3113746" cy="1647900"/>
          </a:xfrm>
        </p:grpSpPr>
        <p:sp>
          <p:nvSpPr>
            <p:cNvPr id="322" name="Google Shape;322;g372806f1c58_0_868"/>
            <p:cNvSpPr txBox="1"/>
            <p:nvPr/>
          </p:nvSpPr>
          <p:spPr>
            <a:xfrm>
              <a:off x="161892" y="1823989"/>
              <a:ext cx="2538600" cy="1647900"/>
            </a:xfrm>
            <a:prstGeom prst="rect">
              <a:avLst/>
            </a:prstGeom>
            <a:noFill/>
            <a:ln>
              <a:noFill/>
            </a:ln>
          </p:spPr>
          <p:txBody>
            <a:bodyPr spcFirstLastPara="1" wrap="square" lIns="121900" tIns="121900" rIns="121900" bIns="121900" anchor="ctr" anchorCtr="0">
              <a:noAutofit/>
            </a:bodyPr>
            <a:lstStyle/>
            <a:p>
              <a:pPr marL="0" lvl="0" indent="0" algn="r" rtl="0">
                <a:spcBef>
                  <a:spcPts val="0"/>
                </a:spcBef>
                <a:spcAft>
                  <a:spcPts val="0"/>
                </a:spcAft>
                <a:buNone/>
              </a:pPr>
              <a:r>
                <a:rPr lang="en-US" sz="2000" b="1">
                  <a:latin typeface="Roboto"/>
                  <a:ea typeface="Roboto"/>
                  <a:cs typeface="Roboto"/>
                  <a:sym typeface="Roboto"/>
                </a:rPr>
                <a:t>Missing Values</a:t>
              </a:r>
              <a:endParaRPr sz="2000" b="1">
                <a:latin typeface="Roboto"/>
                <a:ea typeface="Roboto"/>
                <a:cs typeface="Roboto"/>
                <a:sym typeface="Roboto"/>
              </a:endParaRPr>
            </a:p>
            <a:p>
              <a:pPr marL="0" lvl="0" indent="0" algn="l" rtl="0">
                <a:spcBef>
                  <a:spcPts val="0"/>
                </a:spcBef>
                <a:spcAft>
                  <a:spcPts val="0"/>
                </a:spcAft>
                <a:buNone/>
              </a:pPr>
              <a:endParaRPr sz="1100" b="1">
                <a:latin typeface="Roboto"/>
                <a:ea typeface="Roboto"/>
                <a:cs typeface="Roboto"/>
                <a:sym typeface="Roboto"/>
              </a:endParaRPr>
            </a:p>
            <a:p>
              <a:pPr marL="457200" lvl="0" indent="-336550" algn="l" rtl="0">
                <a:spcBef>
                  <a:spcPts val="0"/>
                </a:spcBef>
                <a:spcAft>
                  <a:spcPts val="0"/>
                </a:spcAft>
                <a:buSzPts val="1700"/>
                <a:buFont typeface="Roboto"/>
                <a:buChar char="●"/>
              </a:pPr>
              <a:r>
                <a:rPr lang="en-US" sz="1700">
                  <a:latin typeface="Roboto"/>
                  <a:ea typeface="Roboto"/>
                  <a:cs typeface="Roboto"/>
                  <a:sym typeface="Roboto"/>
                </a:rPr>
                <a:t>Numerical: column median</a:t>
              </a:r>
              <a:endParaRPr sz="1700">
                <a:latin typeface="Roboto"/>
                <a:ea typeface="Roboto"/>
                <a:cs typeface="Roboto"/>
                <a:sym typeface="Roboto"/>
              </a:endParaRPr>
            </a:p>
            <a:p>
              <a:pPr marL="457200" lvl="0" indent="-336550" algn="l" rtl="0">
                <a:spcBef>
                  <a:spcPts val="0"/>
                </a:spcBef>
                <a:spcAft>
                  <a:spcPts val="0"/>
                </a:spcAft>
                <a:buSzPts val="1700"/>
                <a:buFont typeface="Roboto"/>
                <a:buChar char="●"/>
              </a:pPr>
              <a:r>
                <a:rPr lang="en-US" sz="1700">
                  <a:latin typeface="Roboto"/>
                  <a:ea typeface="Roboto"/>
                  <a:cs typeface="Roboto"/>
                  <a:sym typeface="Roboto"/>
                </a:rPr>
                <a:t>Categorical: “Missing”</a:t>
              </a:r>
              <a:endParaRPr sz="1700">
                <a:latin typeface="Roboto"/>
                <a:ea typeface="Roboto"/>
                <a:cs typeface="Roboto"/>
                <a:sym typeface="Roboto"/>
              </a:endParaRPr>
            </a:p>
          </p:txBody>
        </p:sp>
        <p:cxnSp>
          <p:nvCxnSpPr>
            <p:cNvPr id="323" name="Google Shape;323;g372806f1c58_0_868"/>
            <p:cNvCxnSpPr/>
            <p:nvPr/>
          </p:nvCxnSpPr>
          <p:spPr>
            <a:xfrm rot="10800000">
              <a:off x="2642038" y="2647950"/>
              <a:ext cx="633600" cy="0"/>
            </a:xfrm>
            <a:prstGeom prst="straightConnector1">
              <a:avLst/>
            </a:prstGeom>
            <a:noFill/>
            <a:ln w="9525" cap="flat" cmpd="sng">
              <a:solidFill>
                <a:srgbClr val="249C91"/>
              </a:solidFill>
              <a:prstDash val="solid"/>
              <a:round/>
              <a:headEnd type="none" w="sm" len="sm"/>
              <a:tailEnd type="oval" w="med" len="med"/>
            </a:ln>
          </p:spPr>
        </p:cxnSp>
      </p:grpSp>
      <p:cxnSp>
        <p:nvCxnSpPr>
          <p:cNvPr id="324" name="Google Shape;324;g372806f1c58_0_868"/>
          <p:cNvCxnSpPr/>
          <p:nvPr/>
        </p:nvCxnSpPr>
        <p:spPr>
          <a:xfrm>
            <a:off x="6759064" y="2452143"/>
            <a:ext cx="1715700" cy="0"/>
          </a:xfrm>
          <a:prstGeom prst="straightConnector1">
            <a:avLst/>
          </a:prstGeom>
          <a:noFill/>
          <a:ln w="9525" cap="flat" cmpd="sng">
            <a:solidFill>
              <a:srgbClr val="155B55"/>
            </a:solidFill>
            <a:prstDash val="solid"/>
            <a:round/>
            <a:headEnd type="none" w="sm" len="sm"/>
            <a:tailEnd type="oval" w="med" len="med"/>
          </a:ln>
        </p:spPr>
      </p:cxnSp>
      <p:cxnSp>
        <p:nvCxnSpPr>
          <p:cNvPr id="325" name="Google Shape;325;g372806f1c58_0_868"/>
          <p:cNvCxnSpPr/>
          <p:nvPr/>
        </p:nvCxnSpPr>
        <p:spPr>
          <a:xfrm>
            <a:off x="6759064" y="5042878"/>
            <a:ext cx="1715700" cy="0"/>
          </a:xfrm>
          <a:prstGeom prst="straightConnector1">
            <a:avLst/>
          </a:prstGeom>
          <a:noFill/>
          <a:ln w="9525" cap="flat" cmpd="sng">
            <a:solidFill>
              <a:srgbClr val="1D7E75"/>
            </a:solidFill>
            <a:prstDash val="solid"/>
            <a:round/>
            <a:headEnd type="none" w="sm" len="sm"/>
            <a:tailEnd type="oval" w="med" len="med"/>
          </a:ln>
        </p:spPr>
      </p:cxnSp>
      <p:grpSp>
        <p:nvGrpSpPr>
          <p:cNvPr id="326" name="Google Shape;326;g372806f1c58_0_868"/>
          <p:cNvGrpSpPr/>
          <p:nvPr/>
        </p:nvGrpSpPr>
        <p:grpSpPr>
          <a:xfrm>
            <a:off x="3362316" y="1149862"/>
            <a:ext cx="5086319" cy="5054003"/>
            <a:chOff x="2662213" y="676344"/>
            <a:chExt cx="3814835" cy="3790597"/>
          </a:xfrm>
        </p:grpSpPr>
        <p:sp>
          <p:nvSpPr>
            <p:cNvPr id="327" name="Google Shape;327;g372806f1c58_0_868"/>
            <p:cNvSpPr/>
            <p:nvPr/>
          </p:nvSpPr>
          <p:spPr>
            <a:xfrm rot="3600185">
              <a:off x="3169983" y="1184511"/>
              <a:ext cx="2774659" cy="2774659"/>
            </a:xfrm>
            <a:prstGeom prst="blockArc">
              <a:avLst>
                <a:gd name="adj1" fmla="val 12622480"/>
                <a:gd name="adj2" fmla="val 19781569"/>
                <a:gd name="adj3" fmla="val 20773"/>
              </a:avLst>
            </a:prstGeom>
            <a:solidFill>
              <a:srgbClr val="336CC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8" name="Google Shape;328;g372806f1c58_0_868"/>
            <p:cNvSpPr/>
            <p:nvPr/>
          </p:nvSpPr>
          <p:spPr>
            <a:xfrm rot="10800000">
              <a:off x="3183490" y="1163229"/>
              <a:ext cx="2774700" cy="2774700"/>
            </a:xfrm>
            <a:prstGeom prst="blockArc">
              <a:avLst>
                <a:gd name="adj1" fmla="val 12622480"/>
                <a:gd name="adj2" fmla="val 19662822"/>
                <a:gd name="adj3" fmla="val 20729"/>
              </a:avLst>
            </a:prstGeom>
            <a:solidFill>
              <a:srgbClr val="061D4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9" name="Google Shape;329;g372806f1c58_0_868"/>
            <p:cNvSpPr/>
            <p:nvPr/>
          </p:nvSpPr>
          <p:spPr>
            <a:xfrm rot="-3600185">
              <a:off x="3194618" y="1184114"/>
              <a:ext cx="2774659" cy="2774659"/>
            </a:xfrm>
            <a:prstGeom prst="blockArc">
              <a:avLst>
                <a:gd name="adj1" fmla="val 12622480"/>
                <a:gd name="adj2" fmla="val 19703271"/>
                <a:gd name="adj3" fmla="val 20851"/>
              </a:avLst>
            </a:prstGeom>
            <a:solidFill>
              <a:srgbClr val="0942A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330" name="Google Shape;330;g372806f1c58_0_868"/>
            <p:cNvGrpSpPr/>
            <p:nvPr/>
          </p:nvGrpSpPr>
          <p:grpSpPr>
            <a:xfrm rot="-7200165">
              <a:off x="3337679" y="2826785"/>
              <a:ext cx="585011" cy="585536"/>
              <a:chOff x="1967628" y="812211"/>
              <a:chExt cx="588000" cy="588000"/>
            </a:xfrm>
          </p:grpSpPr>
          <p:sp>
            <p:nvSpPr>
              <p:cNvPr id="331" name="Google Shape;331;g372806f1c58_0_868"/>
              <p:cNvSpPr/>
              <p:nvPr/>
            </p:nvSpPr>
            <p:spPr>
              <a:xfrm rot="39023">
                <a:off x="1970909" y="815492"/>
                <a:ext cx="581437" cy="581437"/>
              </a:xfrm>
              <a:prstGeom prst="pie">
                <a:avLst>
                  <a:gd name="adj1" fmla="val 6190354"/>
                  <a:gd name="adj2" fmla="val 14996165"/>
                </a:avLst>
              </a:prstGeom>
              <a:solidFill>
                <a:srgbClr val="0942A1"/>
              </a:solidFill>
              <a:ln>
                <a:noFill/>
              </a:ln>
              <a:effectLst>
                <a:outerShdw blurRad="190500" algn="bl" rotWithShape="0">
                  <a:srgbClr val="000000">
                    <a:alpha val="43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32" name="Google Shape;332;g372806f1c58_0_868"/>
              <p:cNvSpPr/>
              <p:nvPr/>
            </p:nvSpPr>
            <p:spPr>
              <a:xfrm rot="10800000">
                <a:off x="1970875" y="815525"/>
                <a:ext cx="581400" cy="581400"/>
              </a:xfrm>
              <a:prstGeom prst="pie">
                <a:avLst>
                  <a:gd name="adj1" fmla="val 4028252"/>
                  <a:gd name="adj2" fmla="val 17183677"/>
                </a:avLst>
              </a:prstGeom>
              <a:solidFill>
                <a:srgbClr val="0942A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333" name="Google Shape;333;g372806f1c58_0_868"/>
            <p:cNvGrpSpPr/>
            <p:nvPr/>
          </p:nvGrpSpPr>
          <p:grpSpPr>
            <a:xfrm>
              <a:off x="4264097" y="1180331"/>
              <a:ext cx="585001" cy="585530"/>
              <a:chOff x="1970048" y="811613"/>
              <a:chExt cx="588000" cy="588000"/>
            </a:xfrm>
          </p:grpSpPr>
          <p:sp>
            <p:nvSpPr>
              <p:cNvPr id="334" name="Google Shape;334;g372806f1c58_0_868"/>
              <p:cNvSpPr/>
              <p:nvPr/>
            </p:nvSpPr>
            <p:spPr>
              <a:xfrm rot="39023">
                <a:off x="1973329" y="814894"/>
                <a:ext cx="581437" cy="581437"/>
              </a:xfrm>
              <a:prstGeom prst="pie">
                <a:avLst>
                  <a:gd name="adj1" fmla="val 6190354"/>
                  <a:gd name="adj2" fmla="val 14996165"/>
                </a:avLst>
              </a:prstGeom>
              <a:solidFill>
                <a:srgbClr val="336CC9"/>
              </a:solidFill>
              <a:ln>
                <a:noFill/>
              </a:ln>
              <a:effectLst>
                <a:outerShdw blurRad="190500" algn="bl" rotWithShape="0">
                  <a:srgbClr val="000000">
                    <a:alpha val="43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35" name="Google Shape;335;g372806f1c58_0_868"/>
              <p:cNvSpPr/>
              <p:nvPr/>
            </p:nvSpPr>
            <p:spPr>
              <a:xfrm rot="10800000">
                <a:off x="1973295" y="814927"/>
                <a:ext cx="581400" cy="581400"/>
              </a:xfrm>
              <a:prstGeom prst="pie">
                <a:avLst>
                  <a:gd name="adj1" fmla="val 4028252"/>
                  <a:gd name="adj2" fmla="val 17183677"/>
                </a:avLst>
              </a:prstGeom>
              <a:solidFill>
                <a:srgbClr val="336CC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336" name="Google Shape;336;g372806f1c58_0_868"/>
            <p:cNvGrpSpPr/>
            <p:nvPr/>
          </p:nvGrpSpPr>
          <p:grpSpPr>
            <a:xfrm rot="7200165">
              <a:off x="5229930" y="2804716"/>
              <a:ext cx="585011" cy="585536"/>
              <a:chOff x="1977085" y="811649"/>
              <a:chExt cx="588000" cy="588000"/>
            </a:xfrm>
          </p:grpSpPr>
          <p:sp>
            <p:nvSpPr>
              <p:cNvPr id="337" name="Google Shape;337;g372806f1c58_0_868"/>
              <p:cNvSpPr/>
              <p:nvPr/>
            </p:nvSpPr>
            <p:spPr>
              <a:xfrm rot="39023">
                <a:off x="1980366" y="814930"/>
                <a:ext cx="581437" cy="581437"/>
              </a:xfrm>
              <a:prstGeom prst="pie">
                <a:avLst>
                  <a:gd name="adj1" fmla="val 6190354"/>
                  <a:gd name="adj2" fmla="val 14996165"/>
                </a:avLst>
              </a:prstGeom>
              <a:solidFill>
                <a:srgbClr val="061D49"/>
              </a:solidFill>
              <a:ln>
                <a:noFill/>
              </a:ln>
              <a:effectLst>
                <a:outerShdw blurRad="190500" algn="bl" rotWithShape="0">
                  <a:srgbClr val="000000">
                    <a:alpha val="43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38" name="Google Shape;338;g372806f1c58_0_868"/>
              <p:cNvSpPr/>
              <p:nvPr/>
            </p:nvSpPr>
            <p:spPr>
              <a:xfrm rot="10800000">
                <a:off x="1980332" y="814963"/>
                <a:ext cx="581400" cy="581400"/>
              </a:xfrm>
              <a:prstGeom prst="pie">
                <a:avLst>
                  <a:gd name="adj1" fmla="val 4028252"/>
                  <a:gd name="adj2" fmla="val 17183677"/>
                </a:avLst>
              </a:prstGeom>
              <a:solidFill>
                <a:srgbClr val="061D4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339" name="Google Shape;339;g372806f1c58_0_868"/>
            <p:cNvSpPr txBox="1"/>
            <p:nvPr/>
          </p:nvSpPr>
          <p:spPr>
            <a:xfrm>
              <a:off x="4334550" y="1255312"/>
              <a:ext cx="509100" cy="2670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2100" b="1">
                  <a:solidFill>
                    <a:srgbClr val="FFFFFF"/>
                  </a:solidFill>
                  <a:latin typeface="Roboto"/>
                  <a:ea typeface="Roboto"/>
                  <a:cs typeface="Roboto"/>
                  <a:sym typeface="Roboto"/>
                </a:rPr>
                <a:t>III</a:t>
              </a:r>
              <a:endParaRPr sz="2100" b="1">
                <a:solidFill>
                  <a:srgbClr val="FFFFFF"/>
                </a:solidFill>
                <a:latin typeface="Roboto"/>
                <a:ea typeface="Roboto"/>
                <a:cs typeface="Roboto"/>
                <a:sym typeface="Roboto"/>
              </a:endParaRPr>
            </a:p>
          </p:txBody>
        </p:sp>
        <p:sp>
          <p:nvSpPr>
            <p:cNvPr id="340" name="Google Shape;340;g372806f1c58_0_868"/>
            <p:cNvSpPr txBox="1"/>
            <p:nvPr/>
          </p:nvSpPr>
          <p:spPr>
            <a:xfrm>
              <a:off x="3375648" y="2887440"/>
              <a:ext cx="509100" cy="2670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2100" b="1">
                  <a:solidFill>
                    <a:srgbClr val="FFFFFF"/>
                  </a:solidFill>
                  <a:latin typeface="Roboto"/>
                  <a:ea typeface="Roboto"/>
                  <a:cs typeface="Roboto"/>
                  <a:sym typeface="Roboto"/>
                </a:rPr>
                <a:t>I </a:t>
              </a:r>
              <a:endParaRPr sz="2100" b="1">
                <a:solidFill>
                  <a:srgbClr val="FFFFFF"/>
                </a:solidFill>
                <a:latin typeface="Roboto"/>
                <a:ea typeface="Roboto"/>
                <a:cs typeface="Roboto"/>
                <a:sym typeface="Roboto"/>
              </a:endParaRPr>
            </a:p>
          </p:txBody>
        </p:sp>
        <p:sp>
          <p:nvSpPr>
            <p:cNvPr id="341" name="Google Shape;341;g372806f1c58_0_868"/>
            <p:cNvSpPr txBox="1"/>
            <p:nvPr/>
          </p:nvSpPr>
          <p:spPr>
            <a:xfrm>
              <a:off x="5281877" y="2857865"/>
              <a:ext cx="509100" cy="2670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2100" b="1">
                  <a:solidFill>
                    <a:srgbClr val="FFFFFF"/>
                  </a:solidFill>
                  <a:latin typeface="Roboto"/>
                  <a:ea typeface="Roboto"/>
                  <a:cs typeface="Roboto"/>
                  <a:sym typeface="Roboto"/>
                </a:rPr>
                <a:t>II</a:t>
              </a:r>
              <a:endParaRPr sz="2100" b="1">
                <a:solidFill>
                  <a:srgbClr val="FFFFFF"/>
                </a:solidFill>
                <a:latin typeface="Roboto"/>
                <a:ea typeface="Roboto"/>
                <a:cs typeface="Roboto"/>
                <a:sym typeface="Roboto"/>
              </a:endParaRPr>
            </a:p>
          </p:txBody>
        </p:sp>
      </p:grpSp>
      <p:sp>
        <p:nvSpPr>
          <p:cNvPr id="342" name="Google Shape;342;g372806f1c58_0_868"/>
          <p:cNvSpPr txBox="1"/>
          <p:nvPr/>
        </p:nvSpPr>
        <p:spPr>
          <a:xfrm>
            <a:off x="8620187" y="4139313"/>
            <a:ext cx="3384600" cy="21972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US" sz="2000" b="1">
                <a:latin typeface="Roboto"/>
                <a:ea typeface="Roboto"/>
                <a:cs typeface="Roboto"/>
                <a:sym typeface="Roboto"/>
              </a:rPr>
              <a:t>Standardization</a:t>
            </a:r>
            <a:endParaRPr sz="2000" b="1">
              <a:latin typeface="Roboto"/>
              <a:ea typeface="Roboto"/>
              <a:cs typeface="Roboto"/>
              <a:sym typeface="Roboto"/>
            </a:endParaRPr>
          </a:p>
          <a:p>
            <a:pPr marL="0" lvl="0" indent="0" algn="l" rtl="0">
              <a:spcBef>
                <a:spcPts val="0"/>
              </a:spcBef>
              <a:spcAft>
                <a:spcPts val="0"/>
              </a:spcAft>
              <a:buNone/>
            </a:pPr>
            <a:endParaRPr sz="1100" b="1">
              <a:latin typeface="Roboto"/>
              <a:ea typeface="Roboto"/>
              <a:cs typeface="Roboto"/>
              <a:sym typeface="Roboto"/>
            </a:endParaRPr>
          </a:p>
          <a:p>
            <a:pPr marL="457200" lvl="0" indent="-336550" algn="l" rtl="0">
              <a:spcBef>
                <a:spcPts val="0"/>
              </a:spcBef>
              <a:spcAft>
                <a:spcPts val="0"/>
              </a:spcAft>
              <a:buSzPts val="1700"/>
              <a:buFont typeface="Roboto"/>
              <a:buChar char="●"/>
            </a:pPr>
            <a:r>
              <a:rPr lang="en-US" sz="1700">
                <a:latin typeface="Roboto"/>
                <a:ea typeface="Roboto"/>
                <a:cs typeface="Roboto"/>
                <a:sym typeface="Roboto"/>
              </a:rPr>
              <a:t>Numerical Values</a:t>
            </a:r>
            <a:endParaRPr sz="1700">
              <a:latin typeface="Roboto"/>
              <a:ea typeface="Roboto"/>
              <a:cs typeface="Roboto"/>
              <a:sym typeface="Roboto"/>
            </a:endParaRPr>
          </a:p>
          <a:p>
            <a:pPr marL="457200" lvl="0" indent="-336550" algn="l" rtl="0">
              <a:spcBef>
                <a:spcPts val="0"/>
              </a:spcBef>
              <a:spcAft>
                <a:spcPts val="0"/>
              </a:spcAft>
              <a:buSzPts val="1700"/>
              <a:buFont typeface="Roboto"/>
              <a:buChar char="●"/>
            </a:pPr>
            <a:r>
              <a:rPr lang="en-US" sz="1700">
                <a:latin typeface="Roboto"/>
                <a:ea typeface="Roboto"/>
                <a:cs typeface="Roboto"/>
                <a:sym typeface="Roboto"/>
              </a:rPr>
              <a:t>Remove the impact of different scales</a:t>
            </a:r>
            <a:endParaRPr sz="1700">
              <a:latin typeface="Roboto"/>
              <a:ea typeface="Roboto"/>
              <a:cs typeface="Roboto"/>
              <a:sym typeface="Roboto"/>
            </a:endParaRPr>
          </a:p>
        </p:txBody>
      </p:sp>
      <p:sp>
        <p:nvSpPr>
          <p:cNvPr id="343" name="Google Shape;343;g372806f1c58_0_868"/>
          <p:cNvSpPr txBox="1"/>
          <p:nvPr/>
        </p:nvSpPr>
        <p:spPr>
          <a:xfrm>
            <a:off x="8778762" y="1685138"/>
            <a:ext cx="3384600" cy="21972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US" sz="2000" b="1">
                <a:latin typeface="Roboto"/>
                <a:ea typeface="Roboto"/>
                <a:cs typeface="Roboto"/>
                <a:sym typeface="Roboto"/>
              </a:rPr>
              <a:t>One Hot Encoding</a:t>
            </a:r>
            <a:endParaRPr sz="2000" b="1">
              <a:latin typeface="Roboto"/>
              <a:ea typeface="Roboto"/>
              <a:cs typeface="Roboto"/>
              <a:sym typeface="Roboto"/>
            </a:endParaRPr>
          </a:p>
          <a:p>
            <a:pPr marL="0" lvl="0" indent="0" algn="l" rtl="0">
              <a:spcBef>
                <a:spcPts val="0"/>
              </a:spcBef>
              <a:spcAft>
                <a:spcPts val="0"/>
              </a:spcAft>
              <a:buNone/>
            </a:pPr>
            <a:endParaRPr sz="1100" b="1">
              <a:latin typeface="Roboto"/>
              <a:ea typeface="Roboto"/>
              <a:cs typeface="Roboto"/>
              <a:sym typeface="Roboto"/>
            </a:endParaRPr>
          </a:p>
          <a:p>
            <a:pPr marL="457200" lvl="0" indent="-336550" algn="l" rtl="0">
              <a:lnSpc>
                <a:spcPct val="115000"/>
              </a:lnSpc>
              <a:spcBef>
                <a:spcPts val="0"/>
              </a:spcBef>
              <a:spcAft>
                <a:spcPts val="0"/>
              </a:spcAft>
              <a:buSzPts val="1700"/>
              <a:buFont typeface="Roboto"/>
              <a:buChar char="●"/>
            </a:pPr>
            <a:r>
              <a:rPr lang="en-US" sz="1700">
                <a:latin typeface="Roboto"/>
                <a:ea typeface="Roboto"/>
                <a:cs typeface="Roboto"/>
                <a:sym typeface="Roboto"/>
              </a:rPr>
              <a:t>Categorical Values</a:t>
            </a:r>
            <a:endParaRPr sz="1700">
              <a:latin typeface="Roboto"/>
              <a:ea typeface="Roboto"/>
              <a:cs typeface="Roboto"/>
              <a:sym typeface="Roboto"/>
            </a:endParaRPr>
          </a:p>
          <a:p>
            <a:pPr marL="914400" lvl="1" indent="-336550" algn="l" rtl="0">
              <a:lnSpc>
                <a:spcPct val="115000"/>
              </a:lnSpc>
              <a:spcBef>
                <a:spcPts val="0"/>
              </a:spcBef>
              <a:spcAft>
                <a:spcPts val="0"/>
              </a:spcAft>
              <a:buSzPts val="1700"/>
              <a:buFont typeface="Roboto"/>
              <a:buChar char="○"/>
            </a:pPr>
            <a:r>
              <a:rPr lang="en-US" sz="1700">
                <a:latin typeface="Roboto"/>
                <a:ea typeface="Roboto"/>
                <a:cs typeface="Roboto"/>
                <a:sym typeface="Roboto"/>
              </a:rPr>
              <a:t>k-1 levels for LR</a:t>
            </a:r>
            <a:endParaRPr sz="1700">
              <a:latin typeface="Roboto"/>
              <a:ea typeface="Roboto"/>
              <a:cs typeface="Roboto"/>
              <a:sym typeface="Roboto"/>
            </a:endParaRPr>
          </a:p>
          <a:p>
            <a:pPr marL="914400" lvl="1" indent="-336550" algn="l" rtl="0">
              <a:spcBef>
                <a:spcPts val="0"/>
              </a:spcBef>
              <a:spcAft>
                <a:spcPts val="0"/>
              </a:spcAft>
              <a:buSzPts val="1700"/>
              <a:buFont typeface="Roboto"/>
              <a:buChar char="○"/>
            </a:pPr>
            <a:r>
              <a:rPr lang="en-US" sz="1700">
                <a:latin typeface="Roboto"/>
                <a:ea typeface="Roboto"/>
                <a:cs typeface="Roboto"/>
                <a:sym typeface="Roboto"/>
              </a:rPr>
              <a:t>k levels for KNN</a:t>
            </a:r>
            <a:endParaRPr sz="17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72806f1c58_0_1309"/>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Feature Engineering - Trees </a:t>
            </a:r>
            <a:endParaRPr/>
          </a:p>
        </p:txBody>
      </p:sp>
      <p:sp>
        <p:nvSpPr>
          <p:cNvPr id="350" name="Google Shape;350;g372806f1c58_0_1309"/>
          <p:cNvSpPr txBox="1"/>
          <p:nvPr/>
        </p:nvSpPr>
        <p:spPr>
          <a:xfrm>
            <a:off x="768450" y="1706550"/>
            <a:ext cx="10655100" cy="2339700"/>
          </a:xfrm>
          <a:prstGeom prst="rect">
            <a:avLst/>
          </a:prstGeom>
          <a:noFill/>
          <a:ln>
            <a:noFill/>
          </a:ln>
        </p:spPr>
        <p:txBody>
          <a:bodyPr spcFirstLastPara="1" wrap="square" lIns="91425" tIns="91425" rIns="91425" bIns="91425" anchor="t" anchorCtr="0">
            <a:spAutoFit/>
          </a:bodyPr>
          <a:lstStyle/>
          <a:p>
            <a:pPr marL="4572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Missing Value - Catboost only</a:t>
            </a:r>
            <a:endParaRPr sz="2000">
              <a:latin typeface="Lato"/>
              <a:ea typeface="Lato"/>
              <a:cs typeface="Lato"/>
              <a:sym typeface="Lato"/>
            </a:endParaRPr>
          </a:p>
          <a:p>
            <a:pPr marL="914400" lvl="1" indent="-355600" algn="l" rtl="0">
              <a:lnSpc>
                <a:spcPct val="150000"/>
              </a:lnSpc>
              <a:spcBef>
                <a:spcPts val="0"/>
              </a:spcBef>
              <a:spcAft>
                <a:spcPts val="0"/>
              </a:spcAft>
              <a:buSzPts val="2000"/>
              <a:buFont typeface="Lato"/>
              <a:buChar char="○"/>
            </a:pPr>
            <a:r>
              <a:rPr lang="en-US" sz="2000">
                <a:latin typeface="Lato"/>
                <a:ea typeface="Lato"/>
                <a:cs typeface="Lato"/>
                <a:sym typeface="Lato"/>
              </a:rPr>
              <a:t>Fill Categorical NaN with “Missing”</a:t>
            </a:r>
            <a:endParaRPr sz="2000">
              <a:latin typeface="Lato"/>
              <a:ea typeface="Lato"/>
              <a:cs typeface="Lato"/>
              <a:sym typeface="Lato"/>
            </a:endParaRPr>
          </a:p>
          <a:p>
            <a:pPr marL="4572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Features derived from original dates</a:t>
            </a:r>
            <a:endParaRPr sz="2000">
              <a:latin typeface="Lato"/>
              <a:ea typeface="Lato"/>
              <a:cs typeface="Lato"/>
              <a:sym typeface="Lato"/>
            </a:endParaRPr>
          </a:p>
          <a:p>
            <a:pPr marL="0" lvl="0" indent="0" algn="l" rtl="0">
              <a:lnSpc>
                <a:spcPct val="150000"/>
              </a:lnSpc>
              <a:spcBef>
                <a:spcPts val="0"/>
              </a:spcBef>
              <a:spcAft>
                <a:spcPts val="0"/>
              </a:spcAft>
              <a:buNone/>
            </a:pPr>
            <a:endParaRPr sz="2000">
              <a:latin typeface="Lato"/>
              <a:ea typeface="Lato"/>
              <a:cs typeface="Lato"/>
              <a:sym typeface="Lato"/>
            </a:endParaRPr>
          </a:p>
          <a:p>
            <a:pPr marL="0" lvl="0" indent="0" algn="l" rtl="0">
              <a:lnSpc>
                <a:spcPct val="150000"/>
              </a:lnSpc>
              <a:spcBef>
                <a:spcPts val="0"/>
              </a:spcBef>
              <a:spcAft>
                <a:spcPts val="0"/>
              </a:spcAft>
              <a:buNone/>
            </a:pPr>
            <a:endParaRPr sz="2000">
              <a:latin typeface="Lato"/>
              <a:ea typeface="Lato"/>
              <a:cs typeface="Lato"/>
              <a:sym typeface="Lato"/>
            </a:endParaRPr>
          </a:p>
        </p:txBody>
      </p:sp>
      <p:graphicFrame>
        <p:nvGraphicFramePr>
          <p:cNvPr id="351" name="Google Shape;351;g372806f1c58_0_1309"/>
          <p:cNvGraphicFramePr/>
          <p:nvPr/>
        </p:nvGraphicFramePr>
        <p:xfrm>
          <a:off x="1314638" y="3253850"/>
          <a:ext cx="3000000" cy="3000000"/>
        </p:xfrm>
        <a:graphic>
          <a:graphicData uri="http://schemas.openxmlformats.org/drawingml/2006/table">
            <a:tbl>
              <a:tblPr>
                <a:noFill/>
                <a:tableStyleId>{4DDAEDEC-7DFD-46E7-8778-FF0E9CC43F70}</a:tableStyleId>
              </a:tblPr>
              <a:tblGrid>
                <a:gridCol w="24884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b="1"/>
                        <a:t>Approved_date</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en-US"/>
                        <a:t>2017-07-05  5:04:41 PM</a:t>
                      </a:r>
                      <a:endParaRPr/>
                    </a:p>
                  </a:txBody>
                  <a:tcPr marL="91425" marR="91425" marT="91425" marB="91425"/>
                </a:tc>
                <a:extLst>
                  <a:ext uri="{0D108BD9-81ED-4DB2-BD59-A6C34878D82A}">
                    <a16:rowId xmlns:a16="http://schemas.microsoft.com/office/drawing/2014/main" val="10001"/>
                  </a:ext>
                </a:extLst>
              </a:tr>
            </a:tbl>
          </a:graphicData>
        </a:graphic>
      </p:graphicFrame>
      <p:sp>
        <p:nvSpPr>
          <p:cNvPr id="352" name="Google Shape;352;g372806f1c58_0_1309"/>
          <p:cNvSpPr/>
          <p:nvPr/>
        </p:nvSpPr>
        <p:spPr>
          <a:xfrm>
            <a:off x="4012413" y="3476350"/>
            <a:ext cx="535800" cy="347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aphicFrame>
        <p:nvGraphicFramePr>
          <p:cNvPr id="353" name="Google Shape;353;g372806f1c58_0_1309"/>
          <p:cNvGraphicFramePr/>
          <p:nvPr/>
        </p:nvGraphicFramePr>
        <p:xfrm>
          <a:off x="4720713" y="3253850"/>
          <a:ext cx="3000000" cy="3000000"/>
        </p:xfrm>
        <a:graphic>
          <a:graphicData uri="http://schemas.openxmlformats.org/drawingml/2006/table">
            <a:tbl>
              <a:tblPr>
                <a:noFill/>
                <a:tableStyleId>{4DDAEDEC-7DFD-46E7-8778-FF0E9CC43F70}</a:tableStyleId>
              </a:tblPr>
              <a:tblGrid>
                <a:gridCol w="2039925">
                  <a:extLst>
                    <a:ext uri="{9D8B030D-6E8A-4147-A177-3AD203B41FA5}">
                      <a16:colId xmlns:a16="http://schemas.microsoft.com/office/drawing/2014/main" val="20000"/>
                    </a:ext>
                  </a:extLst>
                </a:gridCol>
                <a:gridCol w="2039925">
                  <a:extLst>
                    <a:ext uri="{9D8B030D-6E8A-4147-A177-3AD203B41FA5}">
                      <a16:colId xmlns:a16="http://schemas.microsoft.com/office/drawing/2014/main" val="20001"/>
                    </a:ext>
                  </a:extLst>
                </a:gridCol>
                <a:gridCol w="20399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US" b="1"/>
                        <a:t>Approved_month</a:t>
                      </a:r>
                      <a:endParaRPr b="1"/>
                    </a:p>
                  </a:txBody>
                  <a:tcPr marL="91425" marR="91425" marT="91425" marB="91425"/>
                </a:tc>
                <a:tc>
                  <a:txBody>
                    <a:bodyPr/>
                    <a:lstStyle/>
                    <a:p>
                      <a:pPr marL="0" lvl="0" indent="0" algn="l" rtl="0">
                        <a:spcBef>
                          <a:spcPts val="0"/>
                        </a:spcBef>
                        <a:spcAft>
                          <a:spcPts val="0"/>
                        </a:spcAft>
                        <a:buNone/>
                      </a:pPr>
                      <a:r>
                        <a:rPr lang="en-US" b="1"/>
                        <a:t>Approved_day</a:t>
                      </a:r>
                      <a:endParaRPr b="1"/>
                    </a:p>
                  </a:txBody>
                  <a:tcPr marL="91425" marR="91425" marT="91425" marB="91425"/>
                </a:tc>
                <a:tc>
                  <a:txBody>
                    <a:bodyPr/>
                    <a:lstStyle/>
                    <a:p>
                      <a:pPr marL="0" lvl="0" indent="0" algn="l" rtl="0">
                        <a:spcBef>
                          <a:spcPts val="0"/>
                        </a:spcBef>
                        <a:spcAft>
                          <a:spcPts val="0"/>
                        </a:spcAft>
                        <a:buNone/>
                      </a:pPr>
                      <a:r>
                        <a:rPr lang="en-US" b="1"/>
                        <a:t>Approved_dayofweek</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lnSpc>
                          <a:spcPct val="115000"/>
                        </a:lnSpc>
                        <a:spcBef>
                          <a:spcPts val="0"/>
                        </a:spcBef>
                        <a:spcAft>
                          <a:spcPts val="0"/>
                        </a:spcAft>
                        <a:buNone/>
                      </a:pPr>
                      <a:r>
                        <a:rPr lang="en-US"/>
                        <a:t>7</a:t>
                      </a:r>
                      <a:endParaRPr/>
                    </a:p>
                  </a:txBody>
                  <a:tcPr marL="91425" marR="91425" marT="91425" marB="91425"/>
                </a:tc>
                <a:tc>
                  <a:txBody>
                    <a:bodyPr/>
                    <a:lstStyle/>
                    <a:p>
                      <a:pPr marL="0" lvl="0" indent="0" algn="ctr" rtl="0">
                        <a:lnSpc>
                          <a:spcPct val="115000"/>
                        </a:lnSpc>
                        <a:spcBef>
                          <a:spcPts val="0"/>
                        </a:spcBef>
                        <a:spcAft>
                          <a:spcPts val="0"/>
                        </a:spcAft>
                        <a:buNone/>
                      </a:pPr>
                      <a:r>
                        <a:rPr lang="en-US"/>
                        <a:t>5</a:t>
                      </a:r>
                      <a:endParaRPr/>
                    </a:p>
                  </a:txBody>
                  <a:tcPr marL="91425" marR="91425" marT="91425" marB="91425"/>
                </a:tc>
                <a:tc>
                  <a:txBody>
                    <a:bodyPr/>
                    <a:lstStyle/>
                    <a:p>
                      <a:pPr marL="0" lvl="0" indent="0" algn="ctr" rtl="0">
                        <a:lnSpc>
                          <a:spcPct val="115000"/>
                        </a:lnSpc>
                        <a:spcBef>
                          <a:spcPts val="0"/>
                        </a:spcBef>
                        <a:spcAft>
                          <a:spcPts val="0"/>
                        </a:spcAft>
                        <a:buNone/>
                      </a:pPr>
                      <a:r>
                        <a:rPr lang="en-US"/>
                        <a:t>3</a:t>
                      </a:r>
                      <a:endParaRPr/>
                    </a:p>
                  </a:txBody>
                  <a:tcPr marL="91425" marR="91425" marT="91425" marB="91425"/>
                </a:tc>
                <a:extLst>
                  <a:ext uri="{0D108BD9-81ED-4DB2-BD59-A6C34878D82A}">
                    <a16:rowId xmlns:a16="http://schemas.microsoft.com/office/drawing/2014/main" val="10001"/>
                  </a:ext>
                </a:extLst>
              </a:tr>
            </a:tbl>
          </a:graphicData>
        </a:graphic>
      </p:graphicFrame>
      <p:sp>
        <p:nvSpPr>
          <p:cNvPr id="354" name="Google Shape;354;g372806f1c58_0_1309"/>
          <p:cNvSpPr txBox="1"/>
          <p:nvPr/>
        </p:nvSpPr>
        <p:spPr>
          <a:xfrm>
            <a:off x="838200" y="4271625"/>
            <a:ext cx="10655100" cy="2339700"/>
          </a:xfrm>
          <a:prstGeom prst="rect">
            <a:avLst/>
          </a:prstGeom>
          <a:noFill/>
          <a:ln>
            <a:noFill/>
          </a:ln>
        </p:spPr>
        <p:txBody>
          <a:bodyPr spcFirstLastPara="1" wrap="square" lIns="91425" tIns="91425" rIns="91425" bIns="91425" anchor="t" anchorCtr="0">
            <a:spAutoFit/>
          </a:bodyPr>
          <a:lstStyle/>
          <a:p>
            <a:pPr marL="4572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Steps didn’t help much - decrease the performance </a:t>
            </a:r>
            <a:endParaRPr sz="2000">
              <a:latin typeface="Lato"/>
              <a:ea typeface="Lato"/>
              <a:cs typeface="Lato"/>
              <a:sym typeface="Lato"/>
            </a:endParaRPr>
          </a:p>
          <a:p>
            <a:pPr marL="9144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Interaction terms: edu x employment</a:t>
            </a:r>
            <a:endParaRPr sz="2000">
              <a:latin typeface="Lato"/>
              <a:ea typeface="Lato"/>
              <a:cs typeface="Lato"/>
              <a:sym typeface="Lato"/>
            </a:endParaRPr>
          </a:p>
          <a:p>
            <a:pPr marL="9144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Log transformation</a:t>
            </a:r>
            <a:endParaRPr sz="2000">
              <a:latin typeface="Lato"/>
              <a:ea typeface="Lato"/>
              <a:cs typeface="Lato"/>
              <a:sym typeface="Lato"/>
            </a:endParaRPr>
          </a:p>
          <a:p>
            <a:pPr marL="914400" lvl="0" indent="-355600" algn="l" rtl="0">
              <a:lnSpc>
                <a:spcPct val="150000"/>
              </a:lnSpc>
              <a:spcBef>
                <a:spcPts val="0"/>
              </a:spcBef>
              <a:spcAft>
                <a:spcPts val="0"/>
              </a:spcAft>
              <a:buSzPts val="2000"/>
              <a:buFont typeface="Lato"/>
              <a:buChar char="-"/>
            </a:pPr>
            <a:r>
              <a:rPr lang="en-US" sz="2000">
                <a:latin typeface="Lato"/>
                <a:ea typeface="Lato"/>
                <a:cs typeface="Lato"/>
                <a:sym typeface="Lato"/>
              </a:rPr>
              <a:t>Drop less important features</a:t>
            </a:r>
            <a:endParaRPr sz="2000">
              <a:latin typeface="Lato"/>
              <a:ea typeface="Lato"/>
              <a:cs typeface="Lato"/>
              <a:sym typeface="Lato"/>
            </a:endParaRPr>
          </a:p>
          <a:p>
            <a:pPr marL="0" lvl="0" indent="0" algn="l" rtl="0">
              <a:lnSpc>
                <a:spcPct val="150000"/>
              </a:lnSpc>
              <a:spcBef>
                <a:spcPts val="0"/>
              </a:spcBef>
              <a:spcAft>
                <a:spcPts val="0"/>
              </a:spcAft>
              <a:buNone/>
            </a:pPr>
            <a:endParaRPr sz="20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375b4e8b08a_0_5"/>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Feature Engineering - LightGBM Overview </a:t>
            </a:r>
            <a:endParaRPr/>
          </a:p>
        </p:txBody>
      </p:sp>
      <p:pic>
        <p:nvPicPr>
          <p:cNvPr id="361" name="Google Shape;361;g375b4e8b08a_0_5"/>
          <p:cNvPicPr preferRelativeResize="0"/>
          <p:nvPr/>
        </p:nvPicPr>
        <p:blipFill>
          <a:blip r:embed="rId3">
            <a:alphaModFix/>
          </a:blip>
          <a:stretch>
            <a:fillRect/>
          </a:stretch>
        </p:blipFill>
        <p:spPr>
          <a:xfrm>
            <a:off x="838201" y="1484850"/>
            <a:ext cx="10056251" cy="5261425"/>
          </a:xfrm>
          <a:prstGeom prst="rect">
            <a:avLst/>
          </a:prstGeom>
          <a:noFill/>
          <a:ln>
            <a:noFill/>
          </a:ln>
        </p:spPr>
      </p:pic>
      <p:sp>
        <p:nvSpPr>
          <p:cNvPr id="362" name="Google Shape;362;g375b4e8b08a_0_5"/>
          <p:cNvSpPr/>
          <p:nvPr/>
        </p:nvSpPr>
        <p:spPr>
          <a:xfrm rot="10800000" flipH="1">
            <a:off x="533900" y="1876750"/>
            <a:ext cx="451800" cy="1659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3" name="Google Shape;363;g375b4e8b08a_0_5"/>
          <p:cNvSpPr/>
          <p:nvPr/>
        </p:nvSpPr>
        <p:spPr>
          <a:xfrm rot="10800000" flipH="1">
            <a:off x="1414500" y="2840300"/>
            <a:ext cx="451800" cy="1659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64" name="Google Shape;364;g375b4e8b08a_0_5"/>
          <p:cNvSpPr/>
          <p:nvPr/>
        </p:nvSpPr>
        <p:spPr>
          <a:xfrm rot="10800000" flipH="1">
            <a:off x="1138100" y="2596350"/>
            <a:ext cx="451800" cy="1659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375b4e8b08a_0_16"/>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Hyperparameter Tuning - Catboost</a:t>
            </a:r>
            <a:endParaRPr/>
          </a:p>
        </p:txBody>
      </p:sp>
      <p:sp>
        <p:nvSpPr>
          <p:cNvPr id="371" name="Google Shape;371;g375b4e8b08a_0_16"/>
          <p:cNvSpPr txBox="1">
            <a:spLocks noGrp="1"/>
          </p:cNvSpPr>
          <p:nvPr>
            <p:ph type="body" idx="1"/>
          </p:nvPr>
        </p:nvSpPr>
        <p:spPr>
          <a:xfrm>
            <a:off x="838200" y="1862647"/>
            <a:ext cx="8876100" cy="3083700"/>
          </a:xfrm>
          <a:prstGeom prst="rect">
            <a:avLst/>
          </a:prstGeom>
        </p:spPr>
        <p:txBody>
          <a:bodyPr spcFirstLastPara="1" wrap="square" lIns="0" tIns="0" rIns="0" bIns="0" anchor="t" anchorCtr="0">
            <a:noAutofit/>
          </a:bodyPr>
          <a:lstStyle/>
          <a:p>
            <a:pPr marL="457200" marR="0" lvl="0" indent="-355600" algn="l" rtl="0">
              <a:lnSpc>
                <a:spcPct val="150000"/>
              </a:lnSpc>
              <a:spcBef>
                <a:spcPts val="0"/>
              </a:spcBef>
              <a:spcAft>
                <a:spcPts val="0"/>
              </a:spcAft>
              <a:buClr>
                <a:srgbClr val="000000"/>
              </a:buClr>
              <a:buSzPts val="2000"/>
              <a:buFont typeface="Lato"/>
              <a:buChar char="●"/>
            </a:pPr>
            <a:r>
              <a:rPr lang="en-US" sz="2000">
                <a:solidFill>
                  <a:srgbClr val="000000"/>
                </a:solidFill>
              </a:rPr>
              <a:t>Tuning Methods</a:t>
            </a:r>
            <a:endParaRPr sz="2000">
              <a:solidFill>
                <a:srgbClr val="000000"/>
              </a:solidFill>
            </a:endParaRPr>
          </a:p>
          <a:p>
            <a:pPr marL="914400" marR="0" lvl="1" indent="-355600" algn="l" rtl="0">
              <a:lnSpc>
                <a:spcPct val="150000"/>
              </a:lnSpc>
              <a:spcBef>
                <a:spcPts val="0"/>
              </a:spcBef>
              <a:spcAft>
                <a:spcPts val="0"/>
              </a:spcAft>
              <a:buClr>
                <a:srgbClr val="000000"/>
              </a:buClr>
              <a:buSzPts val="2000"/>
              <a:buFont typeface="Lato"/>
              <a:buChar char="○"/>
            </a:pPr>
            <a:r>
              <a:rPr lang="en-US" sz="2000">
                <a:solidFill>
                  <a:srgbClr val="000000"/>
                </a:solidFill>
              </a:rPr>
              <a:t>RandomizedSearchCV</a:t>
            </a:r>
            <a:endParaRPr sz="2000">
              <a:solidFill>
                <a:srgbClr val="000000"/>
              </a:solidFill>
            </a:endParaRPr>
          </a:p>
          <a:p>
            <a:pPr marL="914400" marR="0" lvl="1" indent="-355600" algn="l" rtl="0">
              <a:lnSpc>
                <a:spcPct val="150000"/>
              </a:lnSpc>
              <a:spcBef>
                <a:spcPts val="0"/>
              </a:spcBef>
              <a:spcAft>
                <a:spcPts val="0"/>
              </a:spcAft>
              <a:buClr>
                <a:srgbClr val="000000"/>
              </a:buClr>
              <a:buSzPts val="2000"/>
              <a:buFont typeface="Lato"/>
              <a:buChar char="○"/>
            </a:pPr>
            <a:r>
              <a:rPr lang="en-US" sz="2000">
                <a:solidFill>
                  <a:srgbClr val="000000"/>
                </a:solidFill>
              </a:rPr>
              <a:t>GridSearchCV</a:t>
            </a:r>
            <a:endParaRPr sz="2000">
              <a:solidFill>
                <a:srgbClr val="000000"/>
              </a:solidFill>
            </a:endParaRPr>
          </a:p>
          <a:p>
            <a:pPr marL="457200" marR="0" lvl="0" indent="-355600" algn="l" rtl="0">
              <a:lnSpc>
                <a:spcPct val="150000"/>
              </a:lnSpc>
              <a:spcBef>
                <a:spcPts val="0"/>
              </a:spcBef>
              <a:spcAft>
                <a:spcPts val="0"/>
              </a:spcAft>
              <a:buClr>
                <a:srgbClr val="000000"/>
              </a:buClr>
              <a:buSzPts val="2000"/>
              <a:buChar char="●"/>
            </a:pPr>
            <a:r>
              <a:rPr lang="en-US" sz="2000">
                <a:solidFill>
                  <a:srgbClr val="000000"/>
                </a:solidFill>
              </a:rPr>
              <a:t>Improvement</a:t>
            </a:r>
            <a:endParaRPr sz="2000">
              <a:solidFill>
                <a:srgbClr val="000000"/>
              </a:solidFill>
            </a:endParaRPr>
          </a:p>
          <a:p>
            <a:pPr marL="914400" marR="0" lvl="1" indent="-355600" algn="l" rtl="0">
              <a:lnSpc>
                <a:spcPct val="150000"/>
              </a:lnSpc>
              <a:spcBef>
                <a:spcPts val="0"/>
              </a:spcBef>
              <a:spcAft>
                <a:spcPts val="0"/>
              </a:spcAft>
              <a:buClr>
                <a:srgbClr val="000000"/>
              </a:buClr>
              <a:buSzPts val="2000"/>
              <a:buChar char="○"/>
            </a:pPr>
            <a:r>
              <a:rPr lang="en-US" sz="2000">
                <a:solidFill>
                  <a:srgbClr val="000000"/>
                </a:solidFill>
              </a:rPr>
              <a:t>Feature Engineering:  +0.0037</a:t>
            </a:r>
            <a:endParaRPr sz="2000">
              <a:solidFill>
                <a:srgbClr val="000000"/>
              </a:solidFill>
            </a:endParaRPr>
          </a:p>
          <a:p>
            <a:pPr marL="914400" marR="0" lvl="1" indent="-355600" algn="l" rtl="0">
              <a:lnSpc>
                <a:spcPct val="150000"/>
              </a:lnSpc>
              <a:spcBef>
                <a:spcPts val="0"/>
              </a:spcBef>
              <a:spcAft>
                <a:spcPts val="0"/>
              </a:spcAft>
              <a:buClr>
                <a:srgbClr val="000000"/>
              </a:buClr>
              <a:buSzPts val="2000"/>
              <a:buChar char="○"/>
            </a:pPr>
            <a:r>
              <a:rPr lang="en-US" sz="2000">
                <a:solidFill>
                  <a:srgbClr val="000000"/>
                </a:solidFill>
              </a:rPr>
              <a:t>Tuning: +0.0026</a:t>
            </a:r>
            <a:endParaRPr sz="2000">
              <a:solidFill>
                <a:srgbClr val="000000"/>
              </a:solidFill>
            </a:endParaRPr>
          </a:p>
          <a:p>
            <a:pPr marL="457200" marR="0" lvl="0" indent="0" algn="l" rtl="0">
              <a:lnSpc>
                <a:spcPct val="150000"/>
              </a:lnSpc>
              <a:spcBef>
                <a:spcPts val="0"/>
              </a:spcBef>
              <a:spcAft>
                <a:spcPts val="0"/>
              </a:spcAft>
              <a:buNone/>
            </a:pPr>
            <a:endParaRPr sz="2000">
              <a:solidFill>
                <a:srgbClr val="000000"/>
              </a:solidFill>
            </a:endParaRPr>
          </a:p>
          <a:p>
            <a:pPr marL="457200" marR="0" lvl="0" indent="0" algn="l" rtl="0">
              <a:lnSpc>
                <a:spcPct val="150000"/>
              </a:lnSpc>
              <a:spcBef>
                <a:spcPts val="0"/>
              </a:spcBef>
              <a:spcAft>
                <a:spcPts val="0"/>
              </a:spcAft>
              <a:buNone/>
            </a:pPr>
            <a:endParaRPr sz="2000">
              <a:solidFill>
                <a:srgbClr val="000000"/>
              </a:solidFill>
            </a:endParaRPr>
          </a:p>
        </p:txBody>
      </p:sp>
      <p:pic>
        <p:nvPicPr>
          <p:cNvPr id="372" name="Google Shape;372;g375b4e8b08a_0_16"/>
          <p:cNvPicPr preferRelativeResize="0"/>
          <p:nvPr/>
        </p:nvPicPr>
        <p:blipFill>
          <a:blip r:embed="rId3">
            <a:alphaModFix/>
          </a:blip>
          <a:stretch>
            <a:fillRect/>
          </a:stretch>
        </p:blipFill>
        <p:spPr>
          <a:xfrm>
            <a:off x="4537575" y="2341850"/>
            <a:ext cx="261475" cy="273925"/>
          </a:xfrm>
          <a:prstGeom prst="rect">
            <a:avLst/>
          </a:prstGeom>
          <a:noFill/>
          <a:ln>
            <a:noFill/>
          </a:ln>
        </p:spPr>
      </p:pic>
      <p:pic>
        <p:nvPicPr>
          <p:cNvPr id="373" name="Google Shape;373;g375b4e8b08a_0_16"/>
          <p:cNvPicPr preferRelativeResize="0"/>
          <p:nvPr/>
        </p:nvPicPr>
        <p:blipFill>
          <a:blip r:embed="rId4">
            <a:alphaModFix/>
          </a:blip>
          <a:stretch>
            <a:fillRect/>
          </a:stretch>
        </p:blipFill>
        <p:spPr>
          <a:xfrm>
            <a:off x="5360400" y="1862648"/>
            <a:ext cx="6502875" cy="3913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375c3cbf337_0_6"/>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Hyperparameter Tuning - Catboost</a:t>
            </a:r>
            <a:endParaRPr/>
          </a:p>
        </p:txBody>
      </p:sp>
      <p:sp>
        <p:nvSpPr>
          <p:cNvPr id="380" name="Google Shape;380;g375c3cbf337_0_6"/>
          <p:cNvSpPr txBox="1">
            <a:spLocks noGrp="1"/>
          </p:cNvSpPr>
          <p:nvPr>
            <p:ph type="body" idx="1"/>
          </p:nvPr>
        </p:nvSpPr>
        <p:spPr>
          <a:xfrm>
            <a:off x="838200" y="1687522"/>
            <a:ext cx="8876100" cy="3083700"/>
          </a:xfrm>
          <a:prstGeom prst="rect">
            <a:avLst/>
          </a:prstGeom>
        </p:spPr>
        <p:txBody>
          <a:bodyPr spcFirstLastPara="1" wrap="square" lIns="0" tIns="0" rIns="0" bIns="0" anchor="t" anchorCtr="0">
            <a:noAutofit/>
          </a:bodyPr>
          <a:lstStyle/>
          <a:p>
            <a:pPr marL="457200" marR="0" lvl="0" indent="-355600" algn="l" rtl="0">
              <a:lnSpc>
                <a:spcPct val="150000"/>
              </a:lnSpc>
              <a:spcBef>
                <a:spcPts val="0"/>
              </a:spcBef>
              <a:spcAft>
                <a:spcPts val="0"/>
              </a:spcAft>
              <a:buClr>
                <a:srgbClr val="000000"/>
              </a:buClr>
              <a:buSzPts val="2000"/>
              <a:buFont typeface="Lato"/>
              <a:buChar char="●"/>
            </a:pPr>
            <a:r>
              <a:rPr lang="en-US" sz="2000">
                <a:solidFill>
                  <a:srgbClr val="000000"/>
                </a:solidFill>
              </a:rPr>
              <a:t>Tune 12 Hyperparameters</a:t>
            </a:r>
            <a:endParaRPr sz="2000">
              <a:solidFill>
                <a:srgbClr val="000000"/>
              </a:solidFill>
            </a:endParaRPr>
          </a:p>
          <a:p>
            <a:pPr marL="457200" marR="0" lvl="0" indent="-355600" algn="l" rtl="0">
              <a:lnSpc>
                <a:spcPct val="150000"/>
              </a:lnSpc>
              <a:spcBef>
                <a:spcPts val="0"/>
              </a:spcBef>
              <a:spcAft>
                <a:spcPts val="0"/>
              </a:spcAft>
              <a:buClr>
                <a:srgbClr val="000000"/>
              </a:buClr>
              <a:buSzPts val="2000"/>
              <a:buFont typeface="Lato"/>
              <a:buChar char="●"/>
            </a:pPr>
            <a:r>
              <a:rPr lang="en-US" sz="2000">
                <a:solidFill>
                  <a:srgbClr val="000000"/>
                </a:solidFill>
              </a:rPr>
              <a:t>Snippet: </a:t>
            </a:r>
            <a:endParaRPr sz="2000">
              <a:solidFill>
                <a:srgbClr val="000000"/>
              </a:solidFill>
            </a:endParaRPr>
          </a:p>
          <a:p>
            <a:pPr marL="457200" marR="0" lvl="0" indent="0" algn="l" rtl="0">
              <a:lnSpc>
                <a:spcPct val="150000"/>
              </a:lnSpc>
              <a:spcBef>
                <a:spcPts val="0"/>
              </a:spcBef>
              <a:spcAft>
                <a:spcPts val="0"/>
              </a:spcAft>
              <a:buNone/>
            </a:pPr>
            <a:endParaRPr sz="2000">
              <a:solidFill>
                <a:srgbClr val="000000"/>
              </a:solidFill>
            </a:endParaRPr>
          </a:p>
          <a:p>
            <a:pPr marL="457200" marR="0" lvl="0" indent="0" algn="l" rtl="0">
              <a:lnSpc>
                <a:spcPct val="150000"/>
              </a:lnSpc>
              <a:spcBef>
                <a:spcPts val="0"/>
              </a:spcBef>
              <a:spcAft>
                <a:spcPts val="0"/>
              </a:spcAft>
              <a:buNone/>
            </a:pPr>
            <a:endParaRPr sz="2000">
              <a:solidFill>
                <a:srgbClr val="000000"/>
              </a:solidFill>
            </a:endParaRPr>
          </a:p>
        </p:txBody>
      </p:sp>
      <p:graphicFrame>
        <p:nvGraphicFramePr>
          <p:cNvPr id="381" name="Google Shape;381;g375c3cbf337_0_6"/>
          <p:cNvGraphicFramePr/>
          <p:nvPr/>
        </p:nvGraphicFramePr>
        <p:xfrm>
          <a:off x="775588" y="2706463"/>
          <a:ext cx="10640800" cy="3083675"/>
        </p:xfrm>
        <a:graphic>
          <a:graphicData uri="http://schemas.openxmlformats.org/drawingml/2006/table">
            <a:tbl>
              <a:tblPr>
                <a:noFill/>
                <a:tableStyleId>{4DDAEDEC-7DFD-46E7-8778-FF0E9CC43F70}</a:tableStyleId>
              </a:tblPr>
              <a:tblGrid>
                <a:gridCol w="2384500">
                  <a:extLst>
                    <a:ext uri="{9D8B030D-6E8A-4147-A177-3AD203B41FA5}">
                      <a16:colId xmlns:a16="http://schemas.microsoft.com/office/drawing/2014/main" val="20000"/>
                    </a:ext>
                  </a:extLst>
                </a:gridCol>
                <a:gridCol w="3849475">
                  <a:extLst>
                    <a:ext uri="{9D8B030D-6E8A-4147-A177-3AD203B41FA5}">
                      <a16:colId xmlns:a16="http://schemas.microsoft.com/office/drawing/2014/main" val="20001"/>
                    </a:ext>
                  </a:extLst>
                </a:gridCol>
                <a:gridCol w="4406825">
                  <a:extLst>
                    <a:ext uri="{9D8B030D-6E8A-4147-A177-3AD203B41FA5}">
                      <a16:colId xmlns:a16="http://schemas.microsoft.com/office/drawing/2014/main" val="20002"/>
                    </a:ext>
                  </a:extLst>
                </a:gridCol>
              </a:tblGrid>
              <a:tr h="566425">
                <a:tc>
                  <a:txBody>
                    <a:bodyPr/>
                    <a:lstStyle/>
                    <a:p>
                      <a:pPr marL="0" lvl="0" indent="0" algn="ctr" rtl="0">
                        <a:spcBef>
                          <a:spcPts val="0"/>
                        </a:spcBef>
                        <a:spcAft>
                          <a:spcPts val="0"/>
                        </a:spcAft>
                        <a:buNone/>
                      </a:pPr>
                      <a:r>
                        <a:rPr lang="en-US" sz="2000" b="1">
                          <a:solidFill>
                            <a:srgbClr val="EEEEEE"/>
                          </a:solidFill>
                        </a:rPr>
                        <a:t>Parameter</a:t>
                      </a:r>
                      <a:endParaRPr sz="2000" b="1">
                        <a:solidFill>
                          <a:srgbClr val="EEEEEE"/>
                        </a:solidFill>
                      </a:endParaRPr>
                    </a:p>
                  </a:txBody>
                  <a:tcPr marL="91425" marR="91425" marT="91425" marB="91425">
                    <a:solidFill>
                      <a:srgbClr val="307AF3"/>
                    </a:solidFill>
                  </a:tcPr>
                </a:tc>
                <a:tc>
                  <a:txBody>
                    <a:bodyPr/>
                    <a:lstStyle/>
                    <a:p>
                      <a:pPr marL="0" lvl="0" indent="0" algn="ctr" rtl="0">
                        <a:spcBef>
                          <a:spcPts val="0"/>
                        </a:spcBef>
                        <a:spcAft>
                          <a:spcPts val="0"/>
                        </a:spcAft>
                        <a:buNone/>
                      </a:pPr>
                      <a:r>
                        <a:rPr lang="en-US" sz="2000" b="1">
                          <a:solidFill>
                            <a:srgbClr val="EEEEEE"/>
                          </a:solidFill>
                        </a:rPr>
                        <a:t>Range </a:t>
                      </a:r>
                      <a:endParaRPr sz="2000" b="1">
                        <a:solidFill>
                          <a:srgbClr val="EEEEEE"/>
                        </a:solidFill>
                      </a:endParaRPr>
                    </a:p>
                  </a:txBody>
                  <a:tcPr marL="91425" marR="91425" marT="91425" marB="91425">
                    <a:solidFill>
                      <a:srgbClr val="307AF3"/>
                    </a:solidFill>
                  </a:tcPr>
                </a:tc>
                <a:tc>
                  <a:txBody>
                    <a:bodyPr/>
                    <a:lstStyle/>
                    <a:p>
                      <a:pPr marL="0" lvl="0" indent="0" algn="ctr" rtl="0">
                        <a:spcBef>
                          <a:spcPts val="0"/>
                        </a:spcBef>
                        <a:spcAft>
                          <a:spcPts val="0"/>
                        </a:spcAft>
                        <a:buNone/>
                      </a:pPr>
                      <a:r>
                        <a:rPr lang="en-US" sz="2000" b="1">
                          <a:solidFill>
                            <a:srgbClr val="EEEEEE"/>
                          </a:solidFill>
                        </a:rPr>
                        <a:t>Learning</a:t>
                      </a:r>
                      <a:endParaRPr sz="2000" b="1">
                        <a:solidFill>
                          <a:srgbClr val="EEEEEE"/>
                        </a:solidFill>
                      </a:endParaRPr>
                    </a:p>
                  </a:txBody>
                  <a:tcPr marL="91425" marR="91425" marT="91425" marB="91425">
                    <a:solidFill>
                      <a:srgbClr val="307AF3"/>
                    </a:solidFill>
                  </a:tcPr>
                </a:tc>
                <a:extLst>
                  <a:ext uri="{0D108BD9-81ED-4DB2-BD59-A6C34878D82A}">
                    <a16:rowId xmlns:a16="http://schemas.microsoft.com/office/drawing/2014/main" val="10000"/>
                  </a:ext>
                </a:extLst>
              </a:tr>
              <a:tr h="503450">
                <a:tc>
                  <a:txBody>
                    <a:bodyPr/>
                    <a:lstStyle/>
                    <a:p>
                      <a:pPr marL="0" lvl="0" indent="0" algn="ctr" rtl="0">
                        <a:spcBef>
                          <a:spcPts val="0"/>
                        </a:spcBef>
                        <a:spcAft>
                          <a:spcPts val="0"/>
                        </a:spcAft>
                        <a:buNone/>
                      </a:pPr>
                      <a:r>
                        <a:rPr lang="en-US" sz="1600"/>
                        <a:t>depth</a:t>
                      </a:r>
                      <a:endParaRPr sz="1600"/>
                    </a:p>
                  </a:txBody>
                  <a:tcPr marL="91425" marR="91425" marT="91425" marB="91425"/>
                </a:tc>
                <a:tc>
                  <a:txBody>
                    <a:bodyPr/>
                    <a:lstStyle/>
                    <a:p>
                      <a:pPr marL="0" lvl="0" indent="0" algn="ctr" rtl="0">
                        <a:spcBef>
                          <a:spcPts val="0"/>
                        </a:spcBef>
                        <a:spcAft>
                          <a:spcPts val="0"/>
                        </a:spcAft>
                        <a:buNone/>
                      </a:pPr>
                      <a:r>
                        <a:rPr lang="en-US" sz="1600"/>
                        <a:t>[2, 3, 4, </a:t>
                      </a:r>
                      <a:r>
                        <a:rPr lang="en-US" sz="1600" b="1">
                          <a:solidFill>
                            <a:srgbClr val="FF0000"/>
                          </a:solidFill>
                        </a:rPr>
                        <a:t>6</a:t>
                      </a:r>
                      <a:r>
                        <a:rPr lang="en-US" sz="1600"/>
                        <a:t>, 8, 10]</a:t>
                      </a:r>
                      <a:endParaRPr sz="1600"/>
                    </a:p>
                  </a:txBody>
                  <a:tcPr marL="91425" marR="91425" marT="91425" marB="91425"/>
                </a:tc>
                <a:tc>
                  <a:txBody>
                    <a:bodyPr/>
                    <a:lstStyle/>
                    <a:p>
                      <a:pPr marL="0" marR="0" lvl="0" indent="0" algn="ctr" rtl="0">
                        <a:lnSpc>
                          <a:spcPct val="100000"/>
                        </a:lnSpc>
                        <a:spcBef>
                          <a:spcPts val="0"/>
                        </a:spcBef>
                        <a:spcAft>
                          <a:spcPts val="0"/>
                        </a:spcAft>
                        <a:buNone/>
                      </a:pPr>
                      <a:r>
                        <a:rPr lang="en-US" sz="1600"/>
                        <a:t>kept the model moderately complex</a:t>
                      </a:r>
                      <a:endParaRPr sz="1600"/>
                    </a:p>
                  </a:txBody>
                  <a:tcPr marL="91425" marR="91425" marT="91425" marB="91425"/>
                </a:tc>
                <a:extLst>
                  <a:ext uri="{0D108BD9-81ED-4DB2-BD59-A6C34878D82A}">
                    <a16:rowId xmlns:a16="http://schemas.microsoft.com/office/drawing/2014/main" val="10001"/>
                  </a:ext>
                </a:extLst>
              </a:tr>
              <a:tr h="503450">
                <a:tc>
                  <a:txBody>
                    <a:bodyPr/>
                    <a:lstStyle/>
                    <a:p>
                      <a:pPr marL="0" marR="0" lvl="0" indent="0" algn="ctr" rtl="0">
                        <a:lnSpc>
                          <a:spcPct val="100000"/>
                        </a:lnSpc>
                        <a:spcBef>
                          <a:spcPts val="0"/>
                        </a:spcBef>
                        <a:spcAft>
                          <a:spcPts val="0"/>
                        </a:spcAft>
                        <a:buNone/>
                      </a:pPr>
                      <a:r>
                        <a:rPr lang="en-US" sz="1600"/>
                        <a:t>learning_rate</a:t>
                      </a:r>
                      <a:endParaRPr sz="1600"/>
                    </a:p>
                  </a:txBody>
                  <a:tcPr marL="91425" marR="91425" marT="91425" marB="91425"/>
                </a:tc>
                <a:tc>
                  <a:txBody>
                    <a:bodyPr/>
                    <a:lstStyle/>
                    <a:p>
                      <a:pPr marL="0" marR="0" lvl="0" indent="0" algn="ctr" rtl="0">
                        <a:lnSpc>
                          <a:spcPct val="100000"/>
                        </a:lnSpc>
                        <a:spcBef>
                          <a:spcPts val="0"/>
                        </a:spcBef>
                        <a:spcAft>
                          <a:spcPts val="0"/>
                        </a:spcAft>
                        <a:buNone/>
                      </a:pPr>
                      <a:r>
                        <a:rPr lang="en-US" sz="1600"/>
                        <a:t>[0.01, 0.03, 0.1, </a:t>
                      </a:r>
                      <a:r>
                        <a:rPr lang="en-US" sz="1600" b="1">
                          <a:solidFill>
                            <a:srgbClr val="FF0000"/>
                          </a:solidFill>
                        </a:rPr>
                        <a:t>0.2</a:t>
                      </a:r>
                      <a:r>
                        <a:rPr lang="en-US" sz="1600"/>
                        <a:t>, 0.4]</a:t>
                      </a:r>
                      <a:endParaRPr sz="1600"/>
                    </a:p>
                  </a:txBody>
                  <a:tcPr marL="91425" marR="91425" marT="91425" marB="91425"/>
                </a:tc>
                <a:tc>
                  <a:txBody>
                    <a:bodyPr/>
                    <a:lstStyle/>
                    <a:p>
                      <a:pPr marL="0" marR="0" lvl="0" indent="0" algn="ctr" rtl="0">
                        <a:lnSpc>
                          <a:spcPct val="100000"/>
                        </a:lnSpc>
                        <a:spcBef>
                          <a:spcPts val="0"/>
                        </a:spcBef>
                        <a:spcAft>
                          <a:spcPts val="0"/>
                        </a:spcAft>
                        <a:buNone/>
                      </a:pPr>
                      <a:r>
                        <a:rPr lang="en-US" sz="1600"/>
                        <a:t>the model could learn quickly</a:t>
                      </a:r>
                      <a:endParaRPr sz="1600"/>
                    </a:p>
                  </a:txBody>
                  <a:tcPr marL="91425" marR="91425" marT="91425" marB="91425"/>
                </a:tc>
                <a:extLst>
                  <a:ext uri="{0D108BD9-81ED-4DB2-BD59-A6C34878D82A}">
                    <a16:rowId xmlns:a16="http://schemas.microsoft.com/office/drawing/2014/main" val="10002"/>
                  </a:ext>
                </a:extLst>
              </a:tr>
              <a:tr h="503450">
                <a:tc>
                  <a:txBody>
                    <a:bodyPr/>
                    <a:lstStyle/>
                    <a:p>
                      <a:pPr marL="0" marR="0" lvl="0" indent="0" algn="ctr" rtl="0">
                        <a:lnSpc>
                          <a:spcPct val="100000"/>
                        </a:lnSpc>
                        <a:spcBef>
                          <a:spcPts val="0"/>
                        </a:spcBef>
                        <a:spcAft>
                          <a:spcPts val="0"/>
                        </a:spcAft>
                        <a:buNone/>
                      </a:pPr>
                      <a:r>
                        <a:rPr lang="en-US" sz="1600"/>
                        <a:t>iterations</a:t>
                      </a:r>
                      <a:endParaRPr sz="1600"/>
                    </a:p>
                  </a:txBody>
                  <a:tcPr marL="91425" marR="91425" marT="91425" marB="91425"/>
                </a:tc>
                <a:tc>
                  <a:txBody>
                    <a:bodyPr/>
                    <a:lstStyle/>
                    <a:p>
                      <a:pPr marL="0" marR="0" lvl="0" indent="0" algn="ctr" rtl="0">
                        <a:lnSpc>
                          <a:spcPct val="100000"/>
                        </a:lnSpc>
                        <a:spcBef>
                          <a:spcPts val="0"/>
                        </a:spcBef>
                        <a:spcAft>
                          <a:spcPts val="0"/>
                        </a:spcAft>
                        <a:buNone/>
                      </a:pPr>
                      <a:r>
                        <a:rPr lang="en-US" sz="1600"/>
                        <a:t>[</a:t>
                      </a:r>
                      <a:r>
                        <a:rPr lang="en-US" sz="1600" b="1">
                          <a:solidFill>
                            <a:srgbClr val="FF0000"/>
                          </a:solidFill>
                        </a:rPr>
                        <a:t>50</a:t>
                      </a:r>
                      <a:r>
                        <a:rPr lang="en-US" sz="1600"/>
                        <a:t>, 100, 300, 500]</a:t>
                      </a:r>
                      <a:endParaRPr sz="1600"/>
                    </a:p>
                  </a:txBody>
                  <a:tcPr marL="91425" marR="91425" marT="91425" marB="91425"/>
                </a:tc>
                <a:tc>
                  <a:txBody>
                    <a:bodyPr/>
                    <a:lstStyle/>
                    <a:p>
                      <a:pPr marL="0" marR="0" lvl="0" indent="0" algn="ctr" rtl="0">
                        <a:lnSpc>
                          <a:spcPct val="100000"/>
                        </a:lnSpc>
                        <a:spcBef>
                          <a:spcPts val="0"/>
                        </a:spcBef>
                        <a:spcAft>
                          <a:spcPts val="0"/>
                        </a:spcAft>
                        <a:buNone/>
                      </a:pPr>
                      <a:r>
                        <a:rPr lang="en-US" sz="1600"/>
                        <a:t>reached good performance early</a:t>
                      </a:r>
                      <a:endParaRPr sz="1600"/>
                    </a:p>
                  </a:txBody>
                  <a:tcPr marL="91425" marR="91425" marT="91425" marB="91425"/>
                </a:tc>
                <a:extLst>
                  <a:ext uri="{0D108BD9-81ED-4DB2-BD59-A6C34878D82A}">
                    <a16:rowId xmlns:a16="http://schemas.microsoft.com/office/drawing/2014/main" val="10003"/>
                  </a:ext>
                </a:extLst>
              </a:tr>
              <a:tr h="503450">
                <a:tc>
                  <a:txBody>
                    <a:bodyPr/>
                    <a:lstStyle/>
                    <a:p>
                      <a:pPr marL="0" marR="0" lvl="0" indent="0" algn="ctr" rtl="0">
                        <a:lnSpc>
                          <a:spcPct val="100000"/>
                        </a:lnSpc>
                        <a:spcBef>
                          <a:spcPts val="0"/>
                        </a:spcBef>
                        <a:spcAft>
                          <a:spcPts val="0"/>
                        </a:spcAft>
                        <a:buNone/>
                      </a:pPr>
                      <a:r>
                        <a:rPr lang="en-US" sz="1600"/>
                        <a:t>12_leaf_reg</a:t>
                      </a:r>
                      <a:endParaRPr sz="1600"/>
                    </a:p>
                  </a:txBody>
                  <a:tcPr marL="91425" marR="91425" marT="91425" marB="91425">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600"/>
                        <a:t>[1, 3, 5, 7, 9, 11, 13, </a:t>
                      </a:r>
                      <a:r>
                        <a:rPr lang="en-US" sz="1600" b="1">
                          <a:solidFill>
                            <a:srgbClr val="FF0000"/>
                          </a:solidFill>
                        </a:rPr>
                        <a:t>15</a:t>
                      </a:r>
                      <a:r>
                        <a:rPr lang="en-US" sz="1600"/>
                        <a:t>, 17, 19, 21]</a:t>
                      </a:r>
                      <a:endParaRPr sz="1600"/>
                    </a:p>
                  </a:txBody>
                  <a:tcPr marL="91425" marR="91425" marT="91425" marB="91425">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600"/>
                        <a:t>strong penalty</a:t>
                      </a:r>
                      <a:endParaRPr sz="16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03450">
                <a:tc>
                  <a:txBody>
                    <a:bodyPr/>
                    <a:lstStyle/>
                    <a:p>
                      <a:pPr marL="0" marR="0" lvl="0" indent="0" algn="ctr" rtl="0">
                        <a:lnSpc>
                          <a:spcPct val="100000"/>
                        </a:lnSpc>
                        <a:spcBef>
                          <a:spcPts val="0"/>
                        </a:spcBef>
                        <a:spcAft>
                          <a:spcPts val="0"/>
                        </a:spcAft>
                        <a:buNone/>
                      </a:pPr>
                      <a:r>
                        <a:rPr lang="en-US" sz="1600"/>
                        <a:t>auto_class_weights</a:t>
                      </a:r>
                      <a:endParaRPr sz="16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600"/>
                        <a:t>["Balanced", "SqrtBalanced", "</a:t>
                      </a:r>
                      <a:r>
                        <a:rPr lang="en-US" sz="1600" b="1">
                          <a:solidFill>
                            <a:srgbClr val="FF0000"/>
                          </a:solidFill>
                        </a:rPr>
                        <a:t>None</a:t>
                      </a:r>
                      <a:r>
                        <a:rPr lang="en-US" sz="1600"/>
                        <a:t>"]</a:t>
                      </a:r>
                      <a:endParaRPr sz="16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457200" lvl="0" indent="0" algn="l" rtl="0">
                        <a:lnSpc>
                          <a:spcPct val="115000"/>
                        </a:lnSpc>
                        <a:spcBef>
                          <a:spcPts val="1200"/>
                        </a:spcBef>
                        <a:spcAft>
                          <a:spcPts val="1200"/>
                        </a:spcAft>
                        <a:buNone/>
                      </a:pPr>
                      <a:r>
                        <a:rPr lang="en-US" sz="1600"/>
                        <a:t>other hyperparameters are good enough</a:t>
                      </a:r>
                      <a:endParaRPr sz="16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373acac4530_0_69"/>
          <p:cNvSpPr txBox="1">
            <a:spLocks noGrp="1"/>
          </p:cNvSpPr>
          <p:nvPr>
            <p:ph type="title"/>
          </p:nvPr>
        </p:nvSpPr>
        <p:spPr>
          <a:xfrm>
            <a:off x="756275" y="312008"/>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Model Validation (80/20 split)</a:t>
            </a:r>
            <a:endParaRPr/>
          </a:p>
        </p:txBody>
      </p:sp>
      <p:sp>
        <p:nvSpPr>
          <p:cNvPr id="388" name="Google Shape;388;g373acac4530_0_69"/>
          <p:cNvSpPr/>
          <p:nvPr/>
        </p:nvSpPr>
        <p:spPr>
          <a:xfrm>
            <a:off x="2420096" y="2523840"/>
            <a:ext cx="1657800" cy="49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l" rtl="0">
              <a:lnSpc>
                <a:spcPct val="115000"/>
              </a:lnSpc>
              <a:spcBef>
                <a:spcPts val="0"/>
              </a:spcBef>
              <a:spcAft>
                <a:spcPts val="0"/>
              </a:spcAft>
              <a:buNone/>
            </a:pPr>
            <a:r>
              <a:rPr lang="en-US" sz="1358">
                <a:solidFill>
                  <a:srgbClr val="FFFFFF"/>
                </a:solidFill>
                <a:latin typeface="Roboto"/>
                <a:ea typeface="Roboto"/>
                <a:cs typeface="Roboto"/>
                <a:sym typeface="Roboto"/>
              </a:rPr>
              <a:t>Predicted 0</a:t>
            </a:r>
            <a:endParaRPr sz="1358">
              <a:solidFill>
                <a:srgbClr val="FFFFFF"/>
              </a:solidFill>
              <a:latin typeface="Roboto"/>
              <a:ea typeface="Roboto"/>
              <a:cs typeface="Roboto"/>
              <a:sym typeface="Roboto"/>
            </a:endParaRPr>
          </a:p>
        </p:txBody>
      </p:sp>
      <p:sp>
        <p:nvSpPr>
          <p:cNvPr id="389" name="Google Shape;389;g373acac4530_0_69"/>
          <p:cNvSpPr/>
          <p:nvPr/>
        </p:nvSpPr>
        <p:spPr>
          <a:xfrm>
            <a:off x="4097577" y="2523840"/>
            <a:ext cx="1657800" cy="49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l" rtl="0">
              <a:lnSpc>
                <a:spcPct val="115000"/>
              </a:lnSpc>
              <a:spcBef>
                <a:spcPts val="0"/>
              </a:spcBef>
              <a:spcAft>
                <a:spcPts val="0"/>
              </a:spcAft>
              <a:buNone/>
            </a:pPr>
            <a:r>
              <a:rPr lang="en-US" sz="1358">
                <a:solidFill>
                  <a:srgbClr val="FFFFFF"/>
                </a:solidFill>
                <a:latin typeface="Roboto"/>
                <a:ea typeface="Roboto"/>
                <a:cs typeface="Roboto"/>
                <a:sym typeface="Roboto"/>
              </a:rPr>
              <a:t>Predicted 1</a:t>
            </a:r>
            <a:endParaRPr sz="1358">
              <a:solidFill>
                <a:srgbClr val="FFFFFF"/>
              </a:solidFill>
              <a:latin typeface="Roboto"/>
              <a:ea typeface="Roboto"/>
              <a:cs typeface="Roboto"/>
              <a:sym typeface="Roboto"/>
            </a:endParaRPr>
          </a:p>
        </p:txBody>
      </p:sp>
      <p:sp>
        <p:nvSpPr>
          <p:cNvPr id="390" name="Google Shape;390;g373acac4530_0_69"/>
          <p:cNvSpPr/>
          <p:nvPr/>
        </p:nvSpPr>
        <p:spPr>
          <a:xfrm>
            <a:off x="509025" y="2523851"/>
            <a:ext cx="1891200" cy="49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l" rtl="0">
              <a:spcBef>
                <a:spcPts val="0"/>
              </a:spcBef>
              <a:spcAft>
                <a:spcPts val="0"/>
              </a:spcAft>
              <a:buNone/>
            </a:pPr>
            <a:r>
              <a:rPr lang="en-US" sz="1358" b="1">
                <a:solidFill>
                  <a:schemeClr val="lt1"/>
                </a:solidFill>
                <a:latin typeface="Roboto"/>
                <a:ea typeface="Roboto"/>
                <a:cs typeface="Roboto"/>
                <a:sym typeface="Roboto"/>
              </a:rPr>
              <a:t>Confusion Matrix</a:t>
            </a:r>
            <a:r>
              <a:rPr lang="en-US" sz="1481" b="1"/>
              <a:t> </a:t>
            </a:r>
            <a:endParaRPr sz="1481" b="1"/>
          </a:p>
        </p:txBody>
      </p:sp>
      <p:grpSp>
        <p:nvGrpSpPr>
          <p:cNvPr id="391" name="Google Shape;391;g373acac4530_0_69"/>
          <p:cNvGrpSpPr/>
          <p:nvPr/>
        </p:nvGrpSpPr>
        <p:grpSpPr>
          <a:xfrm>
            <a:off x="509024" y="3035894"/>
            <a:ext cx="5246184" cy="1110259"/>
            <a:chOff x="2174684" y="3098509"/>
            <a:chExt cx="3186845" cy="674438"/>
          </a:xfrm>
        </p:grpSpPr>
        <p:sp>
          <p:nvSpPr>
            <p:cNvPr id="392" name="Google Shape;392;g373acac4530_0_69"/>
            <p:cNvSpPr/>
            <p:nvPr/>
          </p:nvSpPr>
          <p:spPr>
            <a:xfrm>
              <a:off x="2174684" y="3098509"/>
              <a:ext cx="11490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l" rtl="0">
                <a:spcBef>
                  <a:spcPts val="0"/>
                </a:spcBef>
                <a:spcAft>
                  <a:spcPts val="0"/>
                </a:spcAft>
                <a:buNone/>
              </a:pPr>
              <a:endParaRPr sz="1728"/>
            </a:p>
          </p:txBody>
        </p:sp>
        <p:sp>
          <p:nvSpPr>
            <p:cNvPr id="393" name="Google Shape;393;g373acac4530_0_69"/>
            <p:cNvSpPr/>
            <p:nvPr/>
          </p:nvSpPr>
          <p:spPr>
            <a:xfrm>
              <a:off x="3335463" y="3098513"/>
              <a:ext cx="10071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ctr" rtl="0">
                <a:spcBef>
                  <a:spcPts val="0"/>
                </a:spcBef>
                <a:spcAft>
                  <a:spcPts val="0"/>
                </a:spcAft>
                <a:buNone/>
              </a:pPr>
              <a:r>
                <a:rPr lang="en-US" sz="1605">
                  <a:solidFill>
                    <a:schemeClr val="lt1"/>
                  </a:solidFill>
                  <a:latin typeface="Roboto"/>
                  <a:ea typeface="Roboto"/>
                  <a:cs typeface="Roboto"/>
                  <a:sym typeface="Roboto"/>
                </a:rPr>
                <a:t>18</a:t>
              </a:r>
              <a:endParaRPr sz="1728"/>
            </a:p>
          </p:txBody>
        </p:sp>
        <p:sp>
          <p:nvSpPr>
            <p:cNvPr id="394" name="Google Shape;394;g373acac4530_0_69"/>
            <p:cNvSpPr/>
            <p:nvPr/>
          </p:nvSpPr>
          <p:spPr>
            <a:xfrm>
              <a:off x="4354429" y="3098513"/>
              <a:ext cx="10071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ctr" rtl="0">
                <a:spcBef>
                  <a:spcPts val="0"/>
                </a:spcBef>
                <a:spcAft>
                  <a:spcPts val="0"/>
                </a:spcAft>
                <a:buNone/>
              </a:pPr>
              <a:r>
                <a:rPr lang="en-US" sz="1605">
                  <a:solidFill>
                    <a:schemeClr val="lt1"/>
                  </a:solidFill>
                  <a:latin typeface="Roboto"/>
                  <a:ea typeface="Roboto"/>
                  <a:cs typeface="Roboto"/>
                  <a:sym typeface="Roboto"/>
                </a:rPr>
                <a:t>188</a:t>
              </a:r>
              <a:endParaRPr sz="1728"/>
            </a:p>
          </p:txBody>
        </p:sp>
        <p:sp>
          <p:nvSpPr>
            <p:cNvPr id="395" name="Google Shape;395;g373acac4530_0_69"/>
            <p:cNvSpPr/>
            <p:nvPr/>
          </p:nvSpPr>
          <p:spPr>
            <a:xfrm>
              <a:off x="2186155" y="3098547"/>
              <a:ext cx="1137300" cy="674400"/>
            </a:xfrm>
            <a:prstGeom prst="rect">
              <a:avLst/>
            </a:prstGeom>
            <a:noFill/>
            <a:ln>
              <a:noFill/>
            </a:ln>
          </p:spPr>
          <p:txBody>
            <a:bodyPr spcFirstLastPara="1" wrap="square" lIns="150500" tIns="150500" rIns="150500" bIns="150500" anchor="t" anchorCtr="0">
              <a:noAutofit/>
            </a:bodyPr>
            <a:lstStyle/>
            <a:p>
              <a:pPr marL="0" lvl="0" indent="0" algn="l" rtl="0">
                <a:spcBef>
                  <a:spcPts val="0"/>
                </a:spcBef>
                <a:spcAft>
                  <a:spcPts val="0"/>
                </a:spcAft>
                <a:buNone/>
              </a:pPr>
              <a:r>
                <a:rPr lang="en-US" sz="1605">
                  <a:solidFill>
                    <a:srgbClr val="FFFFFF"/>
                  </a:solidFill>
                  <a:latin typeface="Roboto"/>
                  <a:ea typeface="Roboto"/>
                  <a:cs typeface="Roboto"/>
                  <a:sym typeface="Roboto"/>
                </a:rPr>
                <a:t>Actual 0</a:t>
              </a:r>
              <a:endParaRPr sz="1605">
                <a:solidFill>
                  <a:srgbClr val="FFFFFF"/>
                </a:solidFill>
                <a:latin typeface="Roboto"/>
                <a:ea typeface="Roboto"/>
                <a:cs typeface="Roboto"/>
                <a:sym typeface="Roboto"/>
              </a:endParaRPr>
            </a:p>
          </p:txBody>
        </p:sp>
      </p:grpSp>
      <p:sp>
        <p:nvSpPr>
          <p:cNvPr id="396" name="Google Shape;396;g373acac4530_0_69"/>
          <p:cNvSpPr txBox="1"/>
          <p:nvPr/>
        </p:nvSpPr>
        <p:spPr>
          <a:xfrm>
            <a:off x="6736850" y="1533050"/>
            <a:ext cx="4968000" cy="213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Classification Report:</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              precision    recall  f1-score   support</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           0       0.49      0.09      0.15       206</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           1       0.78      0.97      0.86       668</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    accuracy                           0.76       874</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   macro avg       0.63      0.53      0.51       874</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weighted avg       0.71      0.76      0.69       874</a:t>
            </a: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1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US" sz="1100">
                <a:solidFill>
                  <a:schemeClr val="dk1"/>
                </a:solidFill>
                <a:latin typeface="Courier New"/>
                <a:ea typeface="Courier New"/>
                <a:cs typeface="Courier New"/>
                <a:sym typeface="Courier New"/>
              </a:rPr>
              <a:t>AUC Score: 0.678</a:t>
            </a:r>
            <a:endParaRPr sz="1100">
              <a:solidFill>
                <a:schemeClr val="dk1"/>
              </a:solidFill>
              <a:latin typeface="Courier New"/>
              <a:ea typeface="Courier New"/>
              <a:cs typeface="Courier New"/>
              <a:sym typeface="Courier New"/>
            </a:endParaRPr>
          </a:p>
        </p:txBody>
      </p:sp>
      <p:grpSp>
        <p:nvGrpSpPr>
          <p:cNvPr id="397" name="Google Shape;397;g373acac4530_0_69"/>
          <p:cNvGrpSpPr/>
          <p:nvPr/>
        </p:nvGrpSpPr>
        <p:grpSpPr>
          <a:xfrm>
            <a:off x="508987" y="4163991"/>
            <a:ext cx="5246221" cy="1110259"/>
            <a:chOff x="2174661" y="3783783"/>
            <a:chExt cx="3186867" cy="674438"/>
          </a:xfrm>
        </p:grpSpPr>
        <p:sp>
          <p:nvSpPr>
            <p:cNvPr id="398" name="Google Shape;398;g373acac4530_0_69"/>
            <p:cNvSpPr/>
            <p:nvPr/>
          </p:nvSpPr>
          <p:spPr>
            <a:xfrm>
              <a:off x="2174684" y="3783783"/>
              <a:ext cx="11490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l" rtl="0">
                <a:spcBef>
                  <a:spcPts val="0"/>
                </a:spcBef>
                <a:spcAft>
                  <a:spcPts val="0"/>
                </a:spcAft>
                <a:buNone/>
              </a:pPr>
              <a:endParaRPr sz="1728"/>
            </a:p>
          </p:txBody>
        </p:sp>
        <p:sp>
          <p:nvSpPr>
            <p:cNvPr id="399" name="Google Shape;399;g373acac4530_0_69"/>
            <p:cNvSpPr/>
            <p:nvPr/>
          </p:nvSpPr>
          <p:spPr>
            <a:xfrm>
              <a:off x="3335463" y="3783788"/>
              <a:ext cx="10071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ctr" rtl="0">
                <a:spcBef>
                  <a:spcPts val="0"/>
                </a:spcBef>
                <a:spcAft>
                  <a:spcPts val="0"/>
                </a:spcAft>
                <a:buNone/>
              </a:pPr>
              <a:r>
                <a:rPr lang="en-US" sz="1605">
                  <a:solidFill>
                    <a:schemeClr val="lt1"/>
                  </a:solidFill>
                  <a:latin typeface="Roboto"/>
                  <a:ea typeface="Roboto"/>
                  <a:cs typeface="Roboto"/>
                  <a:sym typeface="Roboto"/>
                </a:rPr>
                <a:t>19</a:t>
              </a:r>
              <a:endParaRPr sz="1728"/>
            </a:p>
          </p:txBody>
        </p:sp>
        <p:sp>
          <p:nvSpPr>
            <p:cNvPr id="400" name="Google Shape;400;g373acac4530_0_69"/>
            <p:cNvSpPr/>
            <p:nvPr/>
          </p:nvSpPr>
          <p:spPr>
            <a:xfrm>
              <a:off x="4354429" y="3783788"/>
              <a:ext cx="1007100" cy="674400"/>
            </a:xfrm>
            <a:prstGeom prst="rect">
              <a:avLst/>
            </a:prstGeom>
            <a:solidFill>
              <a:srgbClr val="0C57D3"/>
            </a:solidFill>
            <a:ln>
              <a:noFill/>
            </a:ln>
          </p:spPr>
          <p:txBody>
            <a:bodyPr spcFirstLastPara="1" wrap="square" lIns="150500" tIns="150500" rIns="150500" bIns="150500" anchor="ctr" anchorCtr="0">
              <a:noAutofit/>
            </a:bodyPr>
            <a:lstStyle/>
            <a:p>
              <a:pPr marL="0" lvl="0" indent="0" algn="ctr" rtl="0">
                <a:spcBef>
                  <a:spcPts val="0"/>
                </a:spcBef>
                <a:spcAft>
                  <a:spcPts val="0"/>
                </a:spcAft>
                <a:buNone/>
              </a:pPr>
              <a:r>
                <a:rPr lang="en-US" sz="1605">
                  <a:solidFill>
                    <a:schemeClr val="lt1"/>
                  </a:solidFill>
                  <a:latin typeface="Roboto"/>
                  <a:ea typeface="Roboto"/>
                  <a:cs typeface="Roboto"/>
                  <a:sym typeface="Roboto"/>
                </a:rPr>
                <a:t>649</a:t>
              </a:r>
              <a:endParaRPr sz="1728"/>
            </a:p>
          </p:txBody>
        </p:sp>
        <p:sp>
          <p:nvSpPr>
            <p:cNvPr id="401" name="Google Shape;401;g373acac4530_0_69"/>
            <p:cNvSpPr/>
            <p:nvPr/>
          </p:nvSpPr>
          <p:spPr>
            <a:xfrm>
              <a:off x="2174661" y="3783820"/>
              <a:ext cx="1149000" cy="674400"/>
            </a:xfrm>
            <a:prstGeom prst="rect">
              <a:avLst/>
            </a:prstGeom>
            <a:noFill/>
            <a:ln>
              <a:noFill/>
            </a:ln>
          </p:spPr>
          <p:txBody>
            <a:bodyPr spcFirstLastPara="1" wrap="square" lIns="150500" tIns="150500" rIns="150500" bIns="150500" anchor="t" anchorCtr="0">
              <a:noAutofit/>
            </a:bodyPr>
            <a:lstStyle/>
            <a:p>
              <a:pPr marL="0" lvl="0" indent="0" algn="l" rtl="0">
                <a:spcBef>
                  <a:spcPts val="0"/>
                </a:spcBef>
                <a:spcAft>
                  <a:spcPts val="0"/>
                </a:spcAft>
                <a:buNone/>
              </a:pPr>
              <a:r>
                <a:rPr lang="en-US" sz="1605">
                  <a:solidFill>
                    <a:schemeClr val="lt1"/>
                  </a:solidFill>
                  <a:latin typeface="Roboto"/>
                  <a:ea typeface="Roboto"/>
                  <a:cs typeface="Roboto"/>
                  <a:sym typeface="Roboto"/>
                </a:rPr>
                <a:t> Actual 1</a:t>
              </a:r>
              <a:endParaRPr sz="1605">
                <a:solidFill>
                  <a:schemeClr val="lt1"/>
                </a:solidFill>
                <a:latin typeface="Roboto"/>
                <a:ea typeface="Roboto"/>
                <a:cs typeface="Roboto"/>
                <a:sym typeface="Roboto"/>
              </a:endParaRPr>
            </a:p>
            <a:p>
              <a:pPr marL="0" lvl="0" indent="0" algn="l" rtl="0">
                <a:spcBef>
                  <a:spcPts val="0"/>
                </a:spcBef>
                <a:spcAft>
                  <a:spcPts val="0"/>
                </a:spcAft>
                <a:buNone/>
              </a:pPr>
              <a:endParaRPr sz="1605">
                <a:solidFill>
                  <a:srgbClr val="FFFFFF"/>
                </a:solidFill>
                <a:latin typeface="Roboto"/>
                <a:ea typeface="Roboto"/>
                <a:cs typeface="Roboto"/>
                <a:sym typeface="Roboto"/>
              </a:endParaRPr>
            </a:p>
          </p:txBody>
        </p:sp>
      </p:grpSp>
      <p:pic>
        <p:nvPicPr>
          <p:cNvPr id="402" name="Google Shape;402;g373acac4530_0_69"/>
          <p:cNvPicPr preferRelativeResize="0"/>
          <p:nvPr/>
        </p:nvPicPr>
        <p:blipFill>
          <a:blip r:embed="rId3">
            <a:alphaModFix/>
          </a:blip>
          <a:stretch>
            <a:fillRect/>
          </a:stretch>
        </p:blipFill>
        <p:spPr>
          <a:xfrm>
            <a:off x="7132499" y="3665150"/>
            <a:ext cx="3978775" cy="3192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373acac4530_0_62"/>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Prior loan history was most important</a:t>
            </a:r>
            <a:endParaRPr/>
          </a:p>
        </p:txBody>
      </p:sp>
      <p:sp>
        <p:nvSpPr>
          <p:cNvPr id="409" name="Google Shape;409;g373acac4530_0_62"/>
          <p:cNvSpPr txBox="1">
            <a:spLocks noGrp="1"/>
          </p:cNvSpPr>
          <p:nvPr>
            <p:ph type="body" idx="1"/>
          </p:nvPr>
        </p:nvSpPr>
        <p:spPr>
          <a:xfrm>
            <a:off x="838200" y="2321903"/>
            <a:ext cx="5341200" cy="3651600"/>
          </a:xfrm>
          <a:prstGeom prst="rect">
            <a:avLst/>
          </a:prstGeom>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US" sz="1800" u="sng"/>
              <a:t>Key Feature Takeaways</a:t>
            </a:r>
            <a:endParaRPr sz="1800" u="sng"/>
          </a:p>
          <a:p>
            <a:pPr marL="457200" lvl="0" indent="-342900" algn="l" rtl="0">
              <a:lnSpc>
                <a:spcPct val="115000"/>
              </a:lnSpc>
              <a:spcBef>
                <a:spcPts val="1200"/>
              </a:spcBef>
              <a:spcAft>
                <a:spcPts val="0"/>
              </a:spcAft>
              <a:buSzPts val="1800"/>
              <a:buChar char="•"/>
            </a:pPr>
            <a:r>
              <a:rPr lang="en-US" sz="1800"/>
              <a:t>Metrics derived from previous loan auxiliary dataset were most important (55.2%)</a:t>
            </a:r>
            <a:endParaRPr sz="1800"/>
          </a:p>
          <a:p>
            <a:pPr marL="457200" lvl="0" indent="-342900" algn="l" rtl="0">
              <a:lnSpc>
                <a:spcPct val="115000"/>
              </a:lnSpc>
              <a:spcBef>
                <a:spcPts val="0"/>
              </a:spcBef>
              <a:spcAft>
                <a:spcPts val="0"/>
              </a:spcAft>
              <a:buSzPts val="1800"/>
              <a:buChar char="•"/>
            </a:pPr>
            <a:r>
              <a:rPr lang="en-US" sz="1800"/>
              <a:t>Effects of employment were relatively muted.</a:t>
            </a:r>
            <a:endParaRPr sz="1800"/>
          </a:p>
          <a:p>
            <a:pPr marL="457200" lvl="0" indent="-342900" algn="l" rtl="0">
              <a:lnSpc>
                <a:spcPct val="115000"/>
              </a:lnSpc>
              <a:spcBef>
                <a:spcPts val="0"/>
              </a:spcBef>
              <a:spcAft>
                <a:spcPts val="0"/>
              </a:spcAft>
              <a:buSzPts val="1800"/>
              <a:buChar char="•"/>
            </a:pPr>
            <a:r>
              <a:rPr lang="en-US" sz="1800"/>
              <a:t>Default rates were lower in relatively affluent southern Nigeria, as opposed to the north.</a:t>
            </a:r>
            <a:endParaRPr sz="1800"/>
          </a:p>
          <a:p>
            <a:pPr marL="457200" lvl="0" indent="-342900" algn="l" rtl="0">
              <a:lnSpc>
                <a:spcPct val="115000"/>
              </a:lnSpc>
              <a:spcBef>
                <a:spcPts val="0"/>
              </a:spcBef>
              <a:spcAft>
                <a:spcPts val="0"/>
              </a:spcAft>
              <a:buSzPts val="1800"/>
              <a:buChar char="•"/>
            </a:pPr>
            <a:r>
              <a:rPr lang="en-US" sz="1800"/>
              <a:t>We dropped level of education, previous loan term mean, referral status, and month and date of loan approval or creation.</a:t>
            </a:r>
            <a:endParaRPr sz="1900"/>
          </a:p>
        </p:txBody>
      </p:sp>
      <p:pic>
        <p:nvPicPr>
          <p:cNvPr id="410" name="Google Shape;410;g373acac4530_0_62" title="Adobe Express - file (2).png"/>
          <p:cNvPicPr preferRelativeResize="0"/>
          <p:nvPr/>
        </p:nvPicPr>
        <p:blipFill>
          <a:blip r:embed="rId3">
            <a:alphaModFix/>
          </a:blip>
          <a:stretch>
            <a:fillRect/>
          </a:stretch>
        </p:blipFill>
        <p:spPr>
          <a:xfrm>
            <a:off x="6320750" y="661413"/>
            <a:ext cx="5196950" cy="61188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g375c3cbf337_1_626"/>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Our (simplified) decision tree, visualized</a:t>
            </a:r>
            <a:endParaRPr/>
          </a:p>
        </p:txBody>
      </p:sp>
      <p:pic>
        <p:nvPicPr>
          <p:cNvPr id="417" name="Google Shape;417;g375c3cbf337_1_626" title="tree.png"/>
          <p:cNvPicPr preferRelativeResize="0"/>
          <p:nvPr/>
        </p:nvPicPr>
        <p:blipFill>
          <a:blip r:embed="rId3">
            <a:alphaModFix/>
          </a:blip>
          <a:stretch>
            <a:fillRect/>
          </a:stretch>
        </p:blipFill>
        <p:spPr>
          <a:xfrm>
            <a:off x="152400" y="5448059"/>
            <a:ext cx="11887201" cy="452735"/>
          </a:xfrm>
          <a:prstGeom prst="rect">
            <a:avLst/>
          </a:prstGeom>
          <a:noFill/>
          <a:ln>
            <a:noFill/>
          </a:ln>
        </p:spPr>
      </p:pic>
      <p:pic>
        <p:nvPicPr>
          <p:cNvPr id="418" name="Google Shape;418;g375c3cbf337_1_626" title="medium-tree.png"/>
          <p:cNvPicPr preferRelativeResize="0"/>
          <p:nvPr/>
        </p:nvPicPr>
        <p:blipFill>
          <a:blip r:embed="rId4">
            <a:alphaModFix/>
          </a:blip>
          <a:stretch>
            <a:fillRect/>
          </a:stretch>
        </p:blipFill>
        <p:spPr>
          <a:xfrm>
            <a:off x="0" y="2419945"/>
            <a:ext cx="12192000" cy="2018109"/>
          </a:xfrm>
          <a:prstGeom prst="rect">
            <a:avLst/>
          </a:prstGeom>
          <a:noFill/>
          <a:ln>
            <a:noFill/>
          </a:ln>
        </p:spPr>
      </p:pic>
      <p:sp>
        <p:nvSpPr>
          <p:cNvPr id="419" name="Google Shape;419;g375c3cbf337_1_626"/>
          <p:cNvSpPr txBox="1"/>
          <p:nvPr/>
        </p:nvSpPr>
        <p:spPr>
          <a:xfrm>
            <a:off x="702775" y="5088975"/>
            <a:ext cx="1623600" cy="21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Lato"/>
                <a:ea typeface="Lato"/>
                <a:cs typeface="Lato"/>
                <a:sym typeface="Lato"/>
              </a:rPr>
              <a:t>(this is the production one)</a:t>
            </a:r>
            <a:endParaRPr sz="900">
              <a:solidFill>
                <a:schemeClr val="dk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373acac4530_0_76"/>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Example predictions</a:t>
            </a:r>
            <a:endParaRPr/>
          </a:p>
        </p:txBody>
      </p:sp>
      <p:pic>
        <p:nvPicPr>
          <p:cNvPr id="426" name="Google Shape;426;g373acac4530_0_76" title="prediction_examples_table_clean.png"/>
          <p:cNvPicPr preferRelativeResize="0"/>
          <p:nvPr/>
        </p:nvPicPr>
        <p:blipFill>
          <a:blip r:embed="rId3">
            <a:alphaModFix/>
          </a:blip>
          <a:stretch>
            <a:fillRect/>
          </a:stretch>
        </p:blipFill>
        <p:spPr>
          <a:xfrm>
            <a:off x="82425" y="1544450"/>
            <a:ext cx="8372326" cy="4991500"/>
          </a:xfrm>
          <a:prstGeom prst="rect">
            <a:avLst/>
          </a:prstGeom>
          <a:noFill/>
          <a:ln>
            <a:noFill/>
          </a:ln>
        </p:spPr>
      </p:pic>
      <p:pic>
        <p:nvPicPr>
          <p:cNvPr id="427" name="Google Shape;427;g373acac4530_0_76"/>
          <p:cNvPicPr preferRelativeResize="0"/>
          <p:nvPr/>
        </p:nvPicPr>
        <p:blipFill>
          <a:blip r:embed="rId4">
            <a:alphaModFix/>
          </a:blip>
          <a:stretch>
            <a:fillRect/>
          </a:stretch>
        </p:blipFill>
        <p:spPr>
          <a:xfrm>
            <a:off x="8372322" y="4797300"/>
            <a:ext cx="3819675" cy="2060700"/>
          </a:xfrm>
          <a:prstGeom prst="rect">
            <a:avLst/>
          </a:prstGeom>
          <a:noFill/>
          <a:ln>
            <a:noFill/>
          </a:ln>
        </p:spPr>
      </p:pic>
      <p:sp>
        <p:nvSpPr>
          <p:cNvPr id="428" name="Google Shape;428;g373acac4530_0_76"/>
          <p:cNvSpPr txBox="1"/>
          <p:nvPr/>
        </p:nvSpPr>
        <p:spPr>
          <a:xfrm>
            <a:off x="8372325" y="1910550"/>
            <a:ext cx="3480900" cy="22257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US" sz="2300">
                <a:solidFill>
                  <a:schemeClr val="dk1"/>
                </a:solidFill>
                <a:latin typeface="Lato"/>
                <a:ea typeface="Lato"/>
                <a:cs typeface="Lato"/>
                <a:sym typeface="Lato"/>
              </a:rPr>
              <a:t>* Numerical values were transformed by removing the mean and scaling to unit variance. </a:t>
            </a:r>
            <a:endParaRPr sz="2100">
              <a:solidFill>
                <a:schemeClr val="dk1"/>
              </a:solidFill>
              <a:latin typeface="Lato"/>
              <a:ea typeface="Lato"/>
              <a:cs typeface="Lato"/>
              <a:sym typeface="Lato"/>
            </a:endParaRPr>
          </a:p>
        </p:txBody>
      </p:sp>
      <p:pic>
        <p:nvPicPr>
          <p:cNvPr id="429" name="Google Shape;429;g373acac4530_0_76"/>
          <p:cNvPicPr preferRelativeResize="0"/>
          <p:nvPr/>
        </p:nvPicPr>
        <p:blipFill rotWithShape="1">
          <a:blip r:embed="rId5">
            <a:alphaModFix/>
          </a:blip>
          <a:srcRect t="-16560" b="16560"/>
          <a:stretch/>
        </p:blipFill>
        <p:spPr>
          <a:xfrm>
            <a:off x="82425" y="1910550"/>
            <a:ext cx="8781725" cy="1443350"/>
          </a:xfrm>
          <a:prstGeom prst="rect">
            <a:avLst/>
          </a:prstGeom>
          <a:noFill/>
          <a:ln>
            <a:noFill/>
          </a:ln>
        </p:spPr>
      </p:pic>
      <p:pic>
        <p:nvPicPr>
          <p:cNvPr id="430" name="Google Shape;430;g373acac4530_0_76"/>
          <p:cNvPicPr preferRelativeResize="0"/>
          <p:nvPr/>
        </p:nvPicPr>
        <p:blipFill>
          <a:blip r:embed="rId6">
            <a:alphaModFix/>
          </a:blip>
          <a:stretch>
            <a:fillRect/>
          </a:stretch>
        </p:blipFill>
        <p:spPr>
          <a:xfrm>
            <a:off x="21763" y="4575550"/>
            <a:ext cx="8903049" cy="1198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375c3cbf337_2_0"/>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Lessons Learned</a:t>
            </a:r>
            <a:endParaRPr/>
          </a:p>
        </p:txBody>
      </p:sp>
      <p:sp>
        <p:nvSpPr>
          <p:cNvPr id="437" name="Google Shape;437;g375c3cbf337_2_0"/>
          <p:cNvSpPr txBox="1">
            <a:spLocks noGrp="1"/>
          </p:cNvSpPr>
          <p:nvPr>
            <p:ph type="body" idx="1"/>
          </p:nvPr>
        </p:nvSpPr>
        <p:spPr>
          <a:xfrm>
            <a:off x="838200" y="1845325"/>
            <a:ext cx="9920700" cy="3889200"/>
          </a:xfrm>
          <a:prstGeom prst="rect">
            <a:avLst/>
          </a:prstGeom>
        </p:spPr>
        <p:txBody>
          <a:bodyPr spcFirstLastPara="1" wrap="square" lIns="0" tIns="0" rIns="0" bIns="0" anchor="t" anchorCtr="0">
            <a:noAutofit/>
          </a:bodyPr>
          <a:lstStyle/>
          <a:p>
            <a:pPr marL="457200" lvl="0" indent="-406400" algn="l" rtl="0">
              <a:lnSpc>
                <a:spcPct val="115000"/>
              </a:lnSpc>
              <a:spcBef>
                <a:spcPts val="1000"/>
              </a:spcBef>
              <a:spcAft>
                <a:spcPts val="0"/>
              </a:spcAft>
              <a:buSzPts val="2800"/>
              <a:buChar char="•"/>
            </a:pPr>
            <a:r>
              <a:rPr lang="en-US"/>
              <a:t>Use </a:t>
            </a:r>
            <a:r>
              <a:rPr lang="en-US">
                <a:solidFill>
                  <a:srgbClr val="188038"/>
                </a:solidFill>
                <a:latin typeface="Roboto Mono"/>
                <a:ea typeface="Roboto Mono"/>
                <a:cs typeface="Roboto Mono"/>
                <a:sym typeface="Roboto Mono"/>
              </a:rPr>
              <a:t>sklearn.pipelines.Pipelines</a:t>
            </a:r>
            <a:r>
              <a:rPr lang="en-US"/>
              <a:t> for preprocessing, fitting, and predicting.</a:t>
            </a:r>
            <a:endParaRPr/>
          </a:p>
          <a:p>
            <a:pPr marL="457200" lvl="0" indent="0" algn="l" rtl="0">
              <a:spcBef>
                <a:spcPts val="1000"/>
              </a:spcBef>
              <a:spcAft>
                <a:spcPts val="0"/>
              </a:spcAft>
              <a:buNone/>
            </a:pPr>
            <a:endParaRPr sz="1100"/>
          </a:p>
          <a:p>
            <a:pPr marL="457200" lvl="0" indent="-406400" algn="l" rtl="0">
              <a:spcBef>
                <a:spcPts val="1000"/>
              </a:spcBef>
              <a:spcAft>
                <a:spcPts val="0"/>
              </a:spcAft>
              <a:buSzPts val="2800"/>
              <a:buChar char="•"/>
            </a:pPr>
            <a:r>
              <a:rPr lang="en-US"/>
              <a:t>Tuning is very data-driven, not always what we would expect in theory</a:t>
            </a:r>
            <a:endParaRPr/>
          </a:p>
          <a:p>
            <a:pPr marL="457200" lvl="0" indent="0" algn="l" rtl="0">
              <a:spcBef>
                <a:spcPts val="1000"/>
              </a:spcBef>
              <a:spcAft>
                <a:spcPts val="0"/>
              </a:spcAft>
              <a:buNone/>
            </a:pPr>
            <a:endParaRPr sz="1100"/>
          </a:p>
          <a:p>
            <a:pPr marL="457200" lvl="0" indent="-406400" algn="l" rtl="0">
              <a:spcBef>
                <a:spcPts val="1000"/>
              </a:spcBef>
              <a:spcAft>
                <a:spcPts val="0"/>
              </a:spcAft>
              <a:buSzPts val="2800"/>
              <a:buChar char="•"/>
            </a:pPr>
            <a:r>
              <a:rPr lang="en-US"/>
              <a:t>Preprocessing + FE &gt; Model selection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73acac4530_0_83"/>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Appendix — Leaderboard position</a:t>
            </a:r>
            <a:endParaRPr/>
          </a:p>
        </p:txBody>
      </p:sp>
      <p:pic>
        <p:nvPicPr>
          <p:cNvPr id="444" name="Google Shape;444;g373acac4530_0_83" title="Screenshot 2025-08-05 at 7.57.35 PM.png"/>
          <p:cNvPicPr preferRelativeResize="0"/>
          <p:nvPr/>
        </p:nvPicPr>
        <p:blipFill>
          <a:blip r:embed="rId3">
            <a:alphaModFix/>
          </a:blip>
          <a:stretch>
            <a:fillRect/>
          </a:stretch>
        </p:blipFill>
        <p:spPr>
          <a:xfrm>
            <a:off x="366425" y="1813425"/>
            <a:ext cx="11459149" cy="3698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g375c3cbf337_2_10"/>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Appendix — Code Snippets</a:t>
            </a:r>
            <a:endParaRPr/>
          </a:p>
        </p:txBody>
      </p:sp>
      <p:pic>
        <p:nvPicPr>
          <p:cNvPr id="451" name="Google Shape;451;g375c3cbf337_2_10" title="Screenshot 2025-08-05 at 8.05.53 PM.png"/>
          <p:cNvPicPr preferRelativeResize="0"/>
          <p:nvPr/>
        </p:nvPicPr>
        <p:blipFill>
          <a:blip r:embed="rId3">
            <a:alphaModFix/>
          </a:blip>
          <a:stretch>
            <a:fillRect/>
          </a:stretch>
        </p:blipFill>
        <p:spPr>
          <a:xfrm>
            <a:off x="838200" y="1401895"/>
            <a:ext cx="3179409" cy="5303704"/>
          </a:xfrm>
          <a:prstGeom prst="rect">
            <a:avLst/>
          </a:prstGeom>
          <a:noFill/>
          <a:ln>
            <a:noFill/>
          </a:ln>
        </p:spPr>
      </p:pic>
      <p:pic>
        <p:nvPicPr>
          <p:cNvPr id="452" name="Google Shape;452;g375c3cbf337_2_10" title="Screenshot 2025-08-05 at 8.06.35 PM.png"/>
          <p:cNvPicPr preferRelativeResize="0"/>
          <p:nvPr/>
        </p:nvPicPr>
        <p:blipFill>
          <a:blip r:embed="rId4">
            <a:alphaModFix/>
          </a:blip>
          <a:stretch>
            <a:fillRect/>
          </a:stretch>
        </p:blipFill>
        <p:spPr>
          <a:xfrm>
            <a:off x="4170009" y="1401895"/>
            <a:ext cx="3761659" cy="5303705"/>
          </a:xfrm>
          <a:prstGeom prst="rect">
            <a:avLst/>
          </a:prstGeom>
          <a:noFill/>
          <a:ln>
            <a:noFill/>
          </a:ln>
        </p:spPr>
      </p:pic>
      <p:pic>
        <p:nvPicPr>
          <p:cNvPr id="453" name="Google Shape;453;g375c3cbf337_2_10" title="Screenshot 2025-08-05 at 8.06.45 PM.png"/>
          <p:cNvPicPr preferRelativeResize="0"/>
          <p:nvPr/>
        </p:nvPicPr>
        <p:blipFill>
          <a:blip r:embed="rId5">
            <a:alphaModFix/>
          </a:blip>
          <a:stretch>
            <a:fillRect/>
          </a:stretch>
        </p:blipFill>
        <p:spPr>
          <a:xfrm>
            <a:off x="8084067" y="1911620"/>
            <a:ext cx="3955533" cy="42842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375b4e8b08a_0_51"/>
          <p:cNvSpPr txBox="1">
            <a:spLocks noGrp="1"/>
          </p:cNvSpPr>
          <p:nvPr>
            <p:ph type="title"/>
          </p:nvPr>
        </p:nvSpPr>
        <p:spPr>
          <a:xfrm>
            <a:off x="838200" y="311995"/>
            <a:ext cx="9401400" cy="937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Appendix - CatBoost Hyperparameter Tuning List</a:t>
            </a:r>
            <a:endParaRPr/>
          </a:p>
        </p:txBody>
      </p:sp>
      <p:graphicFrame>
        <p:nvGraphicFramePr>
          <p:cNvPr id="460" name="Google Shape;460;g375b4e8b08a_0_51"/>
          <p:cNvGraphicFramePr/>
          <p:nvPr/>
        </p:nvGraphicFramePr>
        <p:xfrm>
          <a:off x="758900" y="1521213"/>
          <a:ext cx="3000000" cy="3000000"/>
        </p:xfrm>
        <a:graphic>
          <a:graphicData uri="http://schemas.openxmlformats.org/drawingml/2006/table">
            <a:tbl>
              <a:tblPr>
                <a:noFill/>
                <a:tableStyleId>{4DDAEDEC-7DFD-46E7-8778-FF0E9CC43F70}</a:tableStyleId>
              </a:tblPr>
              <a:tblGrid>
                <a:gridCol w="3756300">
                  <a:extLst>
                    <a:ext uri="{9D8B030D-6E8A-4147-A177-3AD203B41FA5}">
                      <a16:colId xmlns:a16="http://schemas.microsoft.com/office/drawing/2014/main" val="20000"/>
                    </a:ext>
                  </a:extLst>
                </a:gridCol>
                <a:gridCol w="6503125">
                  <a:extLst>
                    <a:ext uri="{9D8B030D-6E8A-4147-A177-3AD203B41FA5}">
                      <a16:colId xmlns:a16="http://schemas.microsoft.com/office/drawing/2014/main" val="20001"/>
                    </a:ext>
                  </a:extLst>
                </a:gridCol>
              </a:tblGrid>
              <a:tr h="304550">
                <a:tc>
                  <a:txBody>
                    <a:bodyPr/>
                    <a:lstStyle/>
                    <a:p>
                      <a:pPr marL="0" lvl="0" indent="0" algn="ctr" rtl="0">
                        <a:spcBef>
                          <a:spcPts val="0"/>
                        </a:spcBef>
                        <a:spcAft>
                          <a:spcPts val="0"/>
                        </a:spcAft>
                        <a:buNone/>
                      </a:pPr>
                      <a:r>
                        <a:rPr lang="en-US" sz="1500" b="1">
                          <a:solidFill>
                            <a:srgbClr val="EEEEEE"/>
                          </a:solidFill>
                        </a:rPr>
                        <a:t>Parameter</a:t>
                      </a:r>
                      <a:endParaRPr sz="1500" b="1">
                        <a:solidFill>
                          <a:srgbClr val="EEEEEE"/>
                        </a:solidFill>
                      </a:endParaRPr>
                    </a:p>
                  </a:txBody>
                  <a:tcPr marL="91425" marR="91425" marT="91425" marB="91425">
                    <a:solidFill>
                      <a:srgbClr val="307AF3"/>
                    </a:solidFill>
                  </a:tcPr>
                </a:tc>
                <a:tc>
                  <a:txBody>
                    <a:bodyPr/>
                    <a:lstStyle/>
                    <a:p>
                      <a:pPr marL="0" lvl="0" indent="0" algn="ctr" rtl="0">
                        <a:spcBef>
                          <a:spcPts val="0"/>
                        </a:spcBef>
                        <a:spcAft>
                          <a:spcPts val="0"/>
                        </a:spcAft>
                        <a:buNone/>
                      </a:pPr>
                      <a:r>
                        <a:rPr lang="en-US" sz="1500" b="1">
                          <a:solidFill>
                            <a:srgbClr val="EEEEEE"/>
                          </a:solidFill>
                        </a:rPr>
                        <a:t>Range </a:t>
                      </a:r>
                      <a:endParaRPr sz="1500" b="1">
                        <a:solidFill>
                          <a:srgbClr val="EEEEEE"/>
                        </a:solidFill>
                      </a:endParaRPr>
                    </a:p>
                  </a:txBody>
                  <a:tcPr marL="91425" marR="91425" marT="91425" marB="91425">
                    <a:solidFill>
                      <a:srgbClr val="307AF3"/>
                    </a:solidFill>
                  </a:tcPr>
                </a:tc>
                <a:extLst>
                  <a:ext uri="{0D108BD9-81ED-4DB2-BD59-A6C34878D82A}">
                    <a16:rowId xmlns:a16="http://schemas.microsoft.com/office/drawing/2014/main" val="10000"/>
                  </a:ext>
                </a:extLst>
              </a:tr>
              <a:tr h="341150">
                <a:tc>
                  <a:txBody>
                    <a:bodyPr/>
                    <a:lstStyle/>
                    <a:p>
                      <a:pPr marL="0" lvl="0" indent="0" algn="ctr" rtl="0">
                        <a:spcBef>
                          <a:spcPts val="0"/>
                        </a:spcBef>
                        <a:spcAft>
                          <a:spcPts val="0"/>
                        </a:spcAft>
                        <a:buNone/>
                      </a:pPr>
                      <a:r>
                        <a:rPr lang="en-US" sz="1200"/>
                        <a:t>depth</a:t>
                      </a:r>
                      <a:endParaRPr sz="1200"/>
                    </a:p>
                  </a:txBody>
                  <a:tcPr marL="91425" marR="91425" marT="91425" marB="91425"/>
                </a:tc>
                <a:tc>
                  <a:txBody>
                    <a:bodyPr/>
                    <a:lstStyle/>
                    <a:p>
                      <a:pPr marL="0" lvl="0" indent="0" algn="ctr" rtl="0">
                        <a:spcBef>
                          <a:spcPts val="0"/>
                        </a:spcBef>
                        <a:spcAft>
                          <a:spcPts val="0"/>
                        </a:spcAft>
                        <a:buNone/>
                      </a:pPr>
                      <a:r>
                        <a:rPr lang="en-US" sz="1200"/>
                        <a:t>[2, 3, 4, </a:t>
                      </a:r>
                      <a:r>
                        <a:rPr lang="en-US" sz="1200" b="1">
                          <a:solidFill>
                            <a:srgbClr val="FF0000"/>
                          </a:solidFill>
                        </a:rPr>
                        <a:t>6</a:t>
                      </a:r>
                      <a:r>
                        <a:rPr lang="en-US" sz="1200"/>
                        <a:t>, 8, 10]</a:t>
                      </a:r>
                      <a:endParaRPr sz="1200"/>
                    </a:p>
                  </a:txBody>
                  <a:tcPr marL="91425" marR="91425" marT="91425" marB="91425"/>
                </a:tc>
                <a:extLst>
                  <a:ext uri="{0D108BD9-81ED-4DB2-BD59-A6C34878D82A}">
                    <a16:rowId xmlns:a16="http://schemas.microsoft.com/office/drawing/2014/main" val="10001"/>
                  </a:ext>
                </a:extLst>
              </a:tr>
              <a:tr h="341150">
                <a:tc>
                  <a:txBody>
                    <a:bodyPr/>
                    <a:lstStyle/>
                    <a:p>
                      <a:pPr marL="0" marR="0" lvl="0" indent="0" algn="ctr" rtl="0">
                        <a:lnSpc>
                          <a:spcPct val="100000"/>
                        </a:lnSpc>
                        <a:spcBef>
                          <a:spcPts val="0"/>
                        </a:spcBef>
                        <a:spcAft>
                          <a:spcPts val="0"/>
                        </a:spcAft>
                        <a:buNone/>
                      </a:pPr>
                      <a:r>
                        <a:rPr lang="en-US" sz="1200"/>
                        <a:t>learning_rate</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[0.01, 0.03, 0.1, </a:t>
                      </a:r>
                      <a:r>
                        <a:rPr lang="en-US" sz="1200" b="1">
                          <a:solidFill>
                            <a:srgbClr val="FF0000"/>
                          </a:solidFill>
                        </a:rPr>
                        <a:t>0.2</a:t>
                      </a:r>
                      <a:r>
                        <a:rPr lang="en-US" sz="1200"/>
                        <a:t>, 0.4]</a:t>
                      </a:r>
                      <a:endParaRPr sz="1200"/>
                    </a:p>
                  </a:txBody>
                  <a:tcPr marL="91425" marR="91425" marT="91425" marB="91425"/>
                </a:tc>
                <a:extLst>
                  <a:ext uri="{0D108BD9-81ED-4DB2-BD59-A6C34878D82A}">
                    <a16:rowId xmlns:a16="http://schemas.microsoft.com/office/drawing/2014/main" val="10002"/>
                  </a:ext>
                </a:extLst>
              </a:tr>
              <a:tr h="341150">
                <a:tc>
                  <a:txBody>
                    <a:bodyPr/>
                    <a:lstStyle/>
                    <a:p>
                      <a:pPr marL="0" marR="0" lvl="0" indent="0" algn="ctr" rtl="0">
                        <a:lnSpc>
                          <a:spcPct val="100000"/>
                        </a:lnSpc>
                        <a:spcBef>
                          <a:spcPts val="0"/>
                        </a:spcBef>
                        <a:spcAft>
                          <a:spcPts val="0"/>
                        </a:spcAft>
                        <a:buNone/>
                      </a:pPr>
                      <a:r>
                        <a:rPr lang="en-US" sz="1200"/>
                        <a:t>iterations</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a:t>
                      </a:r>
                      <a:r>
                        <a:rPr lang="en-US" sz="1200" b="1">
                          <a:solidFill>
                            <a:srgbClr val="FF0000"/>
                          </a:solidFill>
                        </a:rPr>
                        <a:t>50</a:t>
                      </a:r>
                      <a:r>
                        <a:rPr lang="en-US" sz="1200"/>
                        <a:t>, 100, 300, 500]</a:t>
                      </a:r>
                      <a:endParaRPr sz="1200"/>
                    </a:p>
                  </a:txBody>
                  <a:tcPr marL="91425" marR="91425" marT="91425" marB="91425"/>
                </a:tc>
                <a:extLst>
                  <a:ext uri="{0D108BD9-81ED-4DB2-BD59-A6C34878D82A}">
                    <a16:rowId xmlns:a16="http://schemas.microsoft.com/office/drawing/2014/main" val="10003"/>
                  </a:ext>
                </a:extLst>
              </a:tr>
              <a:tr h="341150">
                <a:tc>
                  <a:txBody>
                    <a:bodyPr/>
                    <a:lstStyle/>
                    <a:p>
                      <a:pPr marL="0" marR="0" lvl="0" indent="0" algn="ctr" rtl="0">
                        <a:lnSpc>
                          <a:spcPct val="100000"/>
                        </a:lnSpc>
                        <a:spcBef>
                          <a:spcPts val="0"/>
                        </a:spcBef>
                        <a:spcAft>
                          <a:spcPts val="0"/>
                        </a:spcAft>
                        <a:buNone/>
                      </a:pPr>
                      <a:r>
                        <a:rPr lang="en-US" sz="1200"/>
                        <a:t>verbose</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a:t>
                      </a:r>
                      <a:r>
                        <a:rPr lang="en-US" sz="1200" b="1">
                          <a:solidFill>
                            <a:srgbClr val="FF0000"/>
                          </a:solidFill>
                        </a:rPr>
                        <a:t>0</a:t>
                      </a:r>
                      <a:r>
                        <a:rPr lang="en-US" sz="1200"/>
                        <a:t>]</a:t>
                      </a:r>
                      <a:endParaRPr sz="1200"/>
                    </a:p>
                  </a:txBody>
                  <a:tcPr marL="91425" marR="91425" marT="91425" marB="91425"/>
                </a:tc>
                <a:extLst>
                  <a:ext uri="{0D108BD9-81ED-4DB2-BD59-A6C34878D82A}">
                    <a16:rowId xmlns:a16="http://schemas.microsoft.com/office/drawing/2014/main" val="10004"/>
                  </a:ext>
                </a:extLst>
              </a:tr>
              <a:tr h="341150">
                <a:tc>
                  <a:txBody>
                    <a:bodyPr/>
                    <a:lstStyle/>
                    <a:p>
                      <a:pPr marL="0" marR="0" lvl="0" indent="0" algn="ctr" rtl="0">
                        <a:lnSpc>
                          <a:spcPct val="100000"/>
                        </a:lnSpc>
                        <a:spcBef>
                          <a:spcPts val="0"/>
                        </a:spcBef>
                        <a:spcAft>
                          <a:spcPts val="0"/>
                        </a:spcAft>
                        <a:buNone/>
                      </a:pPr>
                      <a:r>
                        <a:rPr lang="en-US" sz="1200"/>
                        <a:t>random_state</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a:t>
                      </a:r>
                      <a:r>
                        <a:rPr lang="en-US" sz="1200" b="1">
                          <a:solidFill>
                            <a:srgbClr val="FF0000"/>
                          </a:solidFill>
                        </a:rPr>
                        <a:t>42</a:t>
                      </a:r>
                      <a:r>
                        <a:rPr lang="en-US" sz="1200"/>
                        <a:t>]</a:t>
                      </a:r>
                      <a:endParaRPr sz="1200"/>
                    </a:p>
                  </a:txBody>
                  <a:tcPr marL="91425" marR="91425" marT="91425" marB="91425"/>
                </a:tc>
                <a:extLst>
                  <a:ext uri="{0D108BD9-81ED-4DB2-BD59-A6C34878D82A}">
                    <a16:rowId xmlns:a16="http://schemas.microsoft.com/office/drawing/2014/main" val="10005"/>
                  </a:ext>
                </a:extLst>
              </a:tr>
              <a:tr h="341150">
                <a:tc>
                  <a:txBody>
                    <a:bodyPr/>
                    <a:lstStyle/>
                    <a:p>
                      <a:pPr marL="0" marR="0" lvl="0" indent="0" algn="ctr" rtl="0">
                        <a:lnSpc>
                          <a:spcPct val="100000"/>
                        </a:lnSpc>
                        <a:spcBef>
                          <a:spcPts val="0"/>
                        </a:spcBef>
                        <a:spcAft>
                          <a:spcPts val="0"/>
                        </a:spcAft>
                        <a:buNone/>
                      </a:pPr>
                      <a:r>
                        <a:rPr lang="en-US" sz="1200"/>
                        <a:t>auto_class_weights</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["Balanced", "SqrtBalanced", "</a:t>
                      </a:r>
                      <a:r>
                        <a:rPr lang="en-US" sz="1200" b="1">
                          <a:solidFill>
                            <a:srgbClr val="FF0000"/>
                          </a:solidFill>
                        </a:rPr>
                        <a:t>None</a:t>
                      </a:r>
                      <a:r>
                        <a:rPr lang="en-US" sz="1200"/>
                        <a:t>"]</a:t>
                      </a:r>
                      <a:endParaRPr sz="1200"/>
                    </a:p>
                  </a:txBody>
                  <a:tcPr marL="91425" marR="91425" marT="91425" marB="91425"/>
                </a:tc>
                <a:extLst>
                  <a:ext uri="{0D108BD9-81ED-4DB2-BD59-A6C34878D82A}">
                    <a16:rowId xmlns:a16="http://schemas.microsoft.com/office/drawing/2014/main" val="10006"/>
                  </a:ext>
                </a:extLst>
              </a:tr>
              <a:tr h="341150">
                <a:tc>
                  <a:txBody>
                    <a:bodyPr/>
                    <a:lstStyle/>
                    <a:p>
                      <a:pPr marL="0" marR="0" lvl="0" indent="0" algn="ctr" rtl="0">
                        <a:lnSpc>
                          <a:spcPct val="100000"/>
                        </a:lnSpc>
                        <a:spcBef>
                          <a:spcPts val="0"/>
                        </a:spcBef>
                        <a:spcAft>
                          <a:spcPts val="0"/>
                        </a:spcAft>
                        <a:buNone/>
                      </a:pPr>
                      <a:r>
                        <a:rPr lang="en-US" sz="1200"/>
                        <a:t>random_strength</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[0.5, 1, </a:t>
                      </a:r>
                      <a:r>
                        <a:rPr lang="en-US" sz="1200" b="1">
                          <a:solidFill>
                            <a:srgbClr val="FF0000"/>
                          </a:solidFill>
                        </a:rPr>
                        <a:t>5</a:t>
                      </a:r>
                      <a:r>
                        <a:rPr lang="en-US" sz="1200"/>
                        <a:t>, 10]</a:t>
                      </a:r>
                      <a:endParaRPr sz="1200"/>
                    </a:p>
                  </a:txBody>
                  <a:tcPr marL="91425" marR="91425" marT="91425" marB="91425"/>
                </a:tc>
                <a:extLst>
                  <a:ext uri="{0D108BD9-81ED-4DB2-BD59-A6C34878D82A}">
                    <a16:rowId xmlns:a16="http://schemas.microsoft.com/office/drawing/2014/main" val="10007"/>
                  </a:ext>
                </a:extLst>
              </a:tr>
              <a:tr h="341150">
                <a:tc>
                  <a:txBody>
                    <a:bodyPr/>
                    <a:lstStyle/>
                    <a:p>
                      <a:pPr marL="0" marR="0" lvl="0" indent="0" algn="ctr" rtl="0">
                        <a:lnSpc>
                          <a:spcPct val="100000"/>
                        </a:lnSpc>
                        <a:spcBef>
                          <a:spcPts val="0"/>
                        </a:spcBef>
                        <a:spcAft>
                          <a:spcPts val="0"/>
                        </a:spcAft>
                        <a:buNone/>
                      </a:pPr>
                      <a:r>
                        <a:rPr lang="en-US" sz="1200"/>
                        <a:t>rsm</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a:t>
                      </a:r>
                      <a:r>
                        <a:rPr lang="en-US" sz="1200" b="1">
                          <a:solidFill>
                            <a:srgbClr val="FF0000"/>
                          </a:solidFill>
                        </a:rPr>
                        <a:t>0.4</a:t>
                      </a:r>
                      <a:r>
                        <a:rPr lang="en-US" sz="1200"/>
                        <a:t>, 0.6, 0.8, 1.0]</a:t>
                      </a:r>
                      <a:endParaRPr sz="1200"/>
                    </a:p>
                  </a:txBody>
                  <a:tcPr marL="91425" marR="91425" marT="91425" marB="91425"/>
                </a:tc>
                <a:extLst>
                  <a:ext uri="{0D108BD9-81ED-4DB2-BD59-A6C34878D82A}">
                    <a16:rowId xmlns:a16="http://schemas.microsoft.com/office/drawing/2014/main" val="10008"/>
                  </a:ext>
                </a:extLst>
              </a:tr>
              <a:tr h="341150">
                <a:tc>
                  <a:txBody>
                    <a:bodyPr/>
                    <a:lstStyle/>
                    <a:p>
                      <a:pPr marL="0" marR="0" lvl="0" indent="0" algn="ctr" rtl="0">
                        <a:lnSpc>
                          <a:spcPct val="100000"/>
                        </a:lnSpc>
                        <a:spcBef>
                          <a:spcPts val="0"/>
                        </a:spcBef>
                        <a:spcAft>
                          <a:spcPts val="0"/>
                        </a:spcAft>
                        <a:buNone/>
                      </a:pPr>
                      <a:r>
                        <a:rPr lang="en-US" sz="1200"/>
                        <a:t>12_leaf_reg</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[1, 3, 5, 7, 9, 11, 13, </a:t>
                      </a:r>
                      <a:r>
                        <a:rPr lang="en-US" sz="1200" b="1">
                          <a:solidFill>
                            <a:srgbClr val="FF0000"/>
                          </a:solidFill>
                        </a:rPr>
                        <a:t>15</a:t>
                      </a:r>
                      <a:r>
                        <a:rPr lang="en-US" sz="1200"/>
                        <a:t>, 17, 19, 21]</a:t>
                      </a:r>
                      <a:endParaRPr sz="1200"/>
                    </a:p>
                  </a:txBody>
                  <a:tcPr marL="91425" marR="91425" marT="91425" marB="91425"/>
                </a:tc>
                <a:extLst>
                  <a:ext uri="{0D108BD9-81ED-4DB2-BD59-A6C34878D82A}">
                    <a16:rowId xmlns:a16="http://schemas.microsoft.com/office/drawing/2014/main" val="10009"/>
                  </a:ext>
                </a:extLst>
              </a:tr>
              <a:tr h="341150">
                <a:tc>
                  <a:txBody>
                    <a:bodyPr/>
                    <a:lstStyle/>
                    <a:p>
                      <a:pPr marL="0" marR="0" lvl="0" indent="0" algn="ctr" rtl="0">
                        <a:lnSpc>
                          <a:spcPct val="100000"/>
                        </a:lnSpc>
                        <a:spcBef>
                          <a:spcPts val="0"/>
                        </a:spcBef>
                        <a:spcAft>
                          <a:spcPts val="0"/>
                        </a:spcAft>
                        <a:buNone/>
                      </a:pPr>
                      <a:r>
                        <a:rPr lang="en-US" sz="1200"/>
                        <a:t>bagging_temperature</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[0.1, 0.5, </a:t>
                      </a:r>
                      <a:r>
                        <a:rPr lang="en-US" sz="1200" b="1">
                          <a:solidFill>
                            <a:srgbClr val="FF0000"/>
                          </a:solidFill>
                        </a:rPr>
                        <a:t>1.0</a:t>
                      </a:r>
                      <a:r>
                        <a:rPr lang="en-US" sz="1200"/>
                        <a:t>]</a:t>
                      </a:r>
                      <a:endParaRPr sz="1200"/>
                    </a:p>
                  </a:txBody>
                  <a:tcPr marL="91425" marR="91425" marT="91425" marB="91425"/>
                </a:tc>
                <a:extLst>
                  <a:ext uri="{0D108BD9-81ED-4DB2-BD59-A6C34878D82A}">
                    <a16:rowId xmlns:a16="http://schemas.microsoft.com/office/drawing/2014/main" val="10010"/>
                  </a:ext>
                </a:extLst>
              </a:tr>
              <a:tr h="341150">
                <a:tc>
                  <a:txBody>
                    <a:bodyPr/>
                    <a:lstStyle/>
                    <a:p>
                      <a:pPr marL="0" marR="0" lvl="0" indent="0" algn="ctr" rtl="0">
                        <a:lnSpc>
                          <a:spcPct val="100000"/>
                        </a:lnSpc>
                        <a:spcBef>
                          <a:spcPts val="0"/>
                        </a:spcBef>
                        <a:spcAft>
                          <a:spcPts val="0"/>
                        </a:spcAft>
                        <a:buNone/>
                      </a:pPr>
                      <a:r>
                        <a:rPr lang="en-US" sz="1200"/>
                        <a:t>grow_policy</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a:t>
                      </a:r>
                      <a:r>
                        <a:rPr lang="en-US" sz="1200" b="1">
                          <a:solidFill>
                            <a:srgbClr val="FF0000"/>
                          </a:solidFill>
                        </a:rPr>
                        <a:t>SymmetricTree</a:t>
                      </a:r>
                      <a:r>
                        <a:rPr lang="en-US" sz="1200"/>
                        <a:t>", "Depthwise"]</a:t>
                      </a:r>
                      <a:endParaRPr sz="1200"/>
                    </a:p>
                  </a:txBody>
                  <a:tcPr marL="91425" marR="91425" marT="91425" marB="91425"/>
                </a:tc>
                <a:extLst>
                  <a:ext uri="{0D108BD9-81ED-4DB2-BD59-A6C34878D82A}">
                    <a16:rowId xmlns:a16="http://schemas.microsoft.com/office/drawing/2014/main" val="10011"/>
                  </a:ext>
                </a:extLst>
              </a:tr>
              <a:tr h="341150">
                <a:tc>
                  <a:txBody>
                    <a:bodyPr/>
                    <a:lstStyle/>
                    <a:p>
                      <a:pPr marL="0" marR="0" lvl="0" indent="0" algn="ctr" rtl="0">
                        <a:lnSpc>
                          <a:spcPct val="100000"/>
                        </a:lnSpc>
                        <a:spcBef>
                          <a:spcPts val="0"/>
                        </a:spcBef>
                        <a:spcAft>
                          <a:spcPts val="0"/>
                        </a:spcAft>
                        <a:buNone/>
                      </a:pPr>
                      <a:r>
                        <a:rPr lang="en-US" sz="1200"/>
                        <a:t>border_count</a:t>
                      </a:r>
                      <a:endParaRPr sz="1200"/>
                    </a:p>
                  </a:txBody>
                  <a:tcPr marL="91425" marR="91425" marT="91425" marB="91425"/>
                </a:tc>
                <a:tc>
                  <a:txBody>
                    <a:bodyPr/>
                    <a:lstStyle/>
                    <a:p>
                      <a:pPr marL="0" marR="0" lvl="0" indent="0" algn="ctr" rtl="0">
                        <a:lnSpc>
                          <a:spcPct val="100000"/>
                        </a:lnSpc>
                        <a:spcBef>
                          <a:spcPts val="0"/>
                        </a:spcBef>
                        <a:spcAft>
                          <a:spcPts val="0"/>
                        </a:spcAft>
                        <a:buNone/>
                      </a:pPr>
                      <a:r>
                        <a:rPr lang="en-US" sz="1200"/>
                        <a:t>[32, </a:t>
                      </a:r>
                      <a:r>
                        <a:rPr lang="en-US" sz="1200" b="1">
                          <a:solidFill>
                            <a:srgbClr val="FF0000"/>
                          </a:solidFill>
                        </a:rPr>
                        <a:t>64</a:t>
                      </a:r>
                      <a:r>
                        <a:rPr lang="en-US" sz="1200"/>
                        <a:t>, 128]</a:t>
                      </a:r>
                      <a:endParaRPr sz="1200"/>
                    </a:p>
                  </a:txBody>
                  <a:tcPr marL="91425" marR="91425" marT="91425" marB="91425"/>
                </a:tc>
                <a:extLst>
                  <a:ext uri="{0D108BD9-81ED-4DB2-BD59-A6C34878D82A}">
                    <a16:rowId xmlns:a16="http://schemas.microsoft.com/office/drawing/2014/main" val="1001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g373acac4530_0_95"/>
          <p:cNvSpPr txBox="1">
            <a:spLocks noGrp="1"/>
          </p:cNvSpPr>
          <p:nvPr>
            <p:ph type="title"/>
          </p:nvPr>
        </p:nvSpPr>
        <p:spPr>
          <a:xfrm>
            <a:off x="1657350" y="2913063"/>
            <a:ext cx="8877300" cy="1032000"/>
          </a:xfrm>
          <a:prstGeom prst="rect">
            <a:avLst/>
          </a:prstGeom>
          <a:noFill/>
          <a:ln>
            <a:noFill/>
          </a:ln>
        </p:spPr>
        <p:txBody>
          <a:bodyPr spcFirstLastPara="1" wrap="square" lIns="0" tIns="0" rIns="0" bIns="0" anchor="ctr" anchorCtr="1">
            <a:noAutofit/>
          </a:bodyPr>
          <a:lstStyle/>
          <a:p>
            <a:pPr marL="0" lvl="0" indent="0" algn="ctr" rtl="0">
              <a:lnSpc>
                <a:spcPct val="90000"/>
              </a:lnSpc>
              <a:spcBef>
                <a:spcPts val="0"/>
              </a:spcBef>
              <a:spcAft>
                <a:spcPts val="0"/>
              </a:spcAft>
              <a:buNone/>
            </a:pPr>
            <a:r>
              <a:rPr lang="en-US"/>
              <a:t>Questions?</a:t>
            </a:r>
            <a:endParaRPr/>
          </a:p>
        </p:txBody>
      </p:sp>
    </p:spTree>
  </p:cSld>
  <p:clrMapOvr>
    <a:masterClrMapping/>
  </p:clrMapOvr>
</p:sld>
</file>

<file path=ppt/theme/theme1.xml><?xml version="1.0" encoding="utf-8"?>
<a:theme xmlns:a="http://schemas.openxmlformats.org/drawingml/2006/main" name="Smith Theme White">
  <a:themeElements>
    <a:clrScheme name="SmithColours">
      <a:dk1>
        <a:srgbClr val="061D48"/>
      </a:dk1>
      <a:lt1>
        <a:srgbClr val="FFFFFF"/>
      </a:lt1>
      <a:dk2>
        <a:srgbClr val="0047BB"/>
      </a:dk2>
      <a:lt2>
        <a:srgbClr val="E7E6E6"/>
      </a:lt2>
      <a:accent1>
        <a:srgbClr val="097EB1"/>
      </a:accent1>
      <a:accent2>
        <a:srgbClr val="0399DE"/>
      </a:accent2>
      <a:accent3>
        <a:srgbClr val="00B39D"/>
      </a:accent3>
      <a:accent4>
        <a:srgbClr val="7CCCBF"/>
      </a:accent4>
      <a:accent5>
        <a:srgbClr val="C8205D"/>
      </a:accent5>
      <a:accent6>
        <a:srgbClr val="F04E5E"/>
      </a:accent6>
      <a:hlink>
        <a:srgbClr val="0399DE"/>
      </a:hlink>
      <a:folHlink>
        <a:srgbClr val="028AC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1836</Words>
  <Application>Microsoft Office PowerPoint</Application>
  <PresentationFormat>Widescreen</PresentationFormat>
  <Paragraphs>254</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Courier New</vt:lpstr>
      <vt:lpstr>Calibri</vt:lpstr>
      <vt:lpstr>Arial</vt:lpstr>
      <vt:lpstr>Lato</vt:lpstr>
      <vt:lpstr>Roboto Mono</vt:lpstr>
      <vt:lpstr>Lato Black</vt:lpstr>
      <vt:lpstr>Roboto Medium</vt:lpstr>
      <vt:lpstr>Roboto</vt:lpstr>
      <vt:lpstr>Roboto Thin</vt:lpstr>
      <vt:lpstr>Smith Theme White</vt:lpstr>
      <vt:lpstr>Loan Default Prediction</vt:lpstr>
      <vt:lpstr>Project Introduction-Loan Default Prediction</vt:lpstr>
      <vt:lpstr>Overview of Missing Values</vt:lpstr>
      <vt:lpstr>Exploration of Numerical Features</vt:lpstr>
      <vt:lpstr>Exploration of Categorical Features</vt:lpstr>
      <vt:lpstr>Data preprocessing</vt:lpstr>
      <vt:lpstr>Model Comparison Overview</vt:lpstr>
      <vt:lpstr>Model Comparison Overview</vt:lpstr>
      <vt:lpstr>Feature Engineering  - All Models</vt:lpstr>
      <vt:lpstr>Feature Engineering - Non-trees </vt:lpstr>
      <vt:lpstr>Feature Engineering - Trees </vt:lpstr>
      <vt:lpstr>Feature Engineering - LightGBM Overview </vt:lpstr>
      <vt:lpstr>Hyperparameter Tuning - Catboost</vt:lpstr>
      <vt:lpstr>Hyperparameter Tuning - Catboost</vt:lpstr>
      <vt:lpstr>Model Validation (80/20 split)</vt:lpstr>
      <vt:lpstr>Prior loan history was most important</vt:lpstr>
      <vt:lpstr>Our (simplified) decision tree, visualized</vt:lpstr>
      <vt:lpstr>Example predictions</vt:lpstr>
      <vt:lpstr>Lessons Learned</vt:lpstr>
      <vt:lpstr>Appendix — Leaderboard position</vt:lpstr>
      <vt:lpstr>Appendix — Code Snippets</vt:lpstr>
      <vt:lpstr>Appendix - CatBoost Hyperparameter Tuning List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Yang Wei</cp:lastModifiedBy>
  <cp:revision>1</cp:revision>
  <dcterms:created xsi:type="dcterms:W3CDTF">2020-07-27T18:24:57Z</dcterms:created>
  <dcterms:modified xsi:type="dcterms:W3CDTF">2025-08-06T17:39:16Z</dcterms:modified>
</cp:coreProperties>
</file>